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16"/>
  </p:notesMasterIdLst>
  <p:handoutMasterIdLst>
    <p:handoutMasterId r:id="rId17"/>
  </p:handoutMasterIdLst>
  <p:sldIdLst>
    <p:sldId id="298" r:id="rId5"/>
    <p:sldId id="301" r:id="rId6"/>
    <p:sldId id="310" r:id="rId7"/>
    <p:sldId id="302" r:id="rId8"/>
    <p:sldId id="303" r:id="rId9"/>
    <p:sldId id="304" r:id="rId10"/>
    <p:sldId id="305" r:id="rId11"/>
    <p:sldId id="306" r:id="rId12"/>
    <p:sldId id="307" r:id="rId13"/>
    <p:sldId id="308" r:id="rId14"/>
    <p:sldId id="309" r:id="rId15"/>
  </p:sldIdLst>
  <p:sldSz cx="12192000" cy="6858000"/>
  <p:notesSz cx="6858000" cy="9144000"/>
  <p:defaultTextStyle>
    <a:defPPr rtl="0"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E5745E8-20A1-4922-8A74-3DDA5E240F29}" v="5" dt="2026-04-17T10:16:29.59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19" autoAdjust="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8" d="100"/>
          <a:sy n="88" d="100"/>
        </p:scale>
        <p:origin x="2934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isner, Andreas" userId="8d5af959-7e10-4620-8bf2-f274fa18d173" providerId="ADAL" clId="{986AF251-B7D6-4143-A197-AEABA49420D5}"/>
    <pc:docChg chg="undo custSel addSld delSld modSld">
      <pc:chgData name="Eisner, Andreas" userId="8d5af959-7e10-4620-8bf2-f274fa18d173" providerId="ADAL" clId="{986AF251-B7D6-4143-A197-AEABA49420D5}" dt="2026-04-17T11:05:34.064" v="2134" actId="6549"/>
      <pc:docMkLst>
        <pc:docMk/>
      </pc:docMkLst>
      <pc:sldChg chg="addSp delSp modSp mod modClrScheme chgLayout">
        <pc:chgData name="Eisner, Andreas" userId="8d5af959-7e10-4620-8bf2-f274fa18d173" providerId="ADAL" clId="{986AF251-B7D6-4143-A197-AEABA49420D5}" dt="2026-04-14T09:28:32.958" v="46" actId="113"/>
        <pc:sldMkLst>
          <pc:docMk/>
          <pc:sldMk cId="250184974" sldId="301"/>
        </pc:sldMkLst>
        <pc:spChg chg="mod ord">
          <ac:chgData name="Eisner, Andreas" userId="8d5af959-7e10-4620-8bf2-f274fa18d173" providerId="ADAL" clId="{986AF251-B7D6-4143-A197-AEABA49420D5}" dt="2026-04-14T09:27:46.358" v="17" actId="700"/>
          <ac:spMkLst>
            <pc:docMk/>
            <pc:sldMk cId="250184974" sldId="301"/>
            <ac:spMk id="2" creationId="{5ACDB8DA-E683-91BE-93B5-4B772D93CFE1}"/>
          </ac:spMkLst>
        </pc:spChg>
        <pc:spChg chg="mod ord">
          <ac:chgData name="Eisner, Andreas" userId="8d5af959-7e10-4620-8bf2-f274fa18d173" providerId="ADAL" clId="{986AF251-B7D6-4143-A197-AEABA49420D5}" dt="2026-04-14T09:28:32.958" v="46" actId="113"/>
          <ac:spMkLst>
            <pc:docMk/>
            <pc:sldMk cId="250184974" sldId="301"/>
            <ac:spMk id="3" creationId="{6DFB195F-0596-B0CF-D764-D230DF17E5BE}"/>
          </ac:spMkLst>
        </pc:spChg>
        <pc:spChg chg="add mod ord">
          <ac:chgData name="Eisner, Andreas" userId="8d5af959-7e10-4620-8bf2-f274fa18d173" providerId="ADAL" clId="{986AF251-B7D6-4143-A197-AEABA49420D5}" dt="2026-04-14T09:27:57.822" v="36" actId="20577"/>
          <ac:spMkLst>
            <pc:docMk/>
            <pc:sldMk cId="250184974" sldId="301"/>
            <ac:spMk id="6" creationId="{D147790A-8D4C-2C94-7649-63476AE47AFE}"/>
          </ac:spMkLst>
        </pc:spChg>
      </pc:sldChg>
      <pc:sldChg chg="modSp add mod">
        <pc:chgData name="Eisner, Andreas" userId="8d5af959-7e10-4620-8bf2-f274fa18d173" providerId="ADAL" clId="{986AF251-B7D6-4143-A197-AEABA49420D5}" dt="2026-04-14T09:29:43.567" v="73" actId="20577"/>
        <pc:sldMkLst>
          <pc:docMk/>
          <pc:sldMk cId="790968111" sldId="302"/>
        </pc:sldMkLst>
        <pc:spChg chg="mod">
          <ac:chgData name="Eisner, Andreas" userId="8d5af959-7e10-4620-8bf2-f274fa18d173" providerId="ADAL" clId="{986AF251-B7D6-4143-A197-AEABA49420D5}" dt="2026-04-14T09:29:43.567" v="73" actId="20577"/>
          <ac:spMkLst>
            <pc:docMk/>
            <pc:sldMk cId="790968111" sldId="302"/>
            <ac:spMk id="2" creationId="{D2D4A911-E8EE-2EDB-6F73-A61574479B3A}"/>
          </ac:spMkLst>
        </pc:spChg>
        <pc:spChg chg="mod">
          <ac:chgData name="Eisner, Andreas" userId="8d5af959-7e10-4620-8bf2-f274fa18d173" providerId="ADAL" clId="{986AF251-B7D6-4143-A197-AEABA49420D5}" dt="2026-04-14T09:29:22.792" v="61" actId="27636"/>
          <ac:spMkLst>
            <pc:docMk/>
            <pc:sldMk cId="790968111" sldId="302"/>
            <ac:spMk id="3" creationId="{56885E0D-BF4C-A6FD-06DA-2AD06DEF0F62}"/>
          </ac:spMkLst>
        </pc:spChg>
        <pc:spChg chg="mod">
          <ac:chgData name="Eisner, Andreas" userId="8d5af959-7e10-4620-8bf2-f274fa18d173" providerId="ADAL" clId="{986AF251-B7D6-4143-A197-AEABA49420D5}" dt="2026-04-14T09:29:10.055" v="58"/>
          <ac:spMkLst>
            <pc:docMk/>
            <pc:sldMk cId="790968111" sldId="302"/>
            <ac:spMk id="6" creationId="{132FB2AA-A749-794E-42D4-E946352C41B2}"/>
          </ac:spMkLst>
        </pc:spChg>
      </pc:sldChg>
      <pc:sldChg chg="addSp delSp modSp new mod">
        <pc:chgData name="Eisner, Andreas" userId="8d5af959-7e10-4620-8bf2-f274fa18d173" providerId="ADAL" clId="{986AF251-B7D6-4143-A197-AEABA49420D5}" dt="2026-04-14T09:33:27.130" v="205" actId="6549"/>
        <pc:sldMkLst>
          <pc:docMk/>
          <pc:sldMk cId="4223270066" sldId="303"/>
        </pc:sldMkLst>
        <pc:spChg chg="mod">
          <ac:chgData name="Eisner, Andreas" userId="8d5af959-7e10-4620-8bf2-f274fa18d173" providerId="ADAL" clId="{986AF251-B7D6-4143-A197-AEABA49420D5}" dt="2026-04-14T09:30:08.973" v="86" actId="20577"/>
          <ac:spMkLst>
            <pc:docMk/>
            <pc:sldMk cId="4223270066" sldId="303"/>
            <ac:spMk id="2" creationId="{8A88276C-3B1A-58BD-E28F-298B07F52438}"/>
          </ac:spMkLst>
        </pc:spChg>
        <pc:spChg chg="mod">
          <ac:chgData name="Eisner, Andreas" userId="8d5af959-7e10-4620-8bf2-f274fa18d173" providerId="ADAL" clId="{986AF251-B7D6-4143-A197-AEABA49420D5}" dt="2026-04-14T09:30:21.721" v="89"/>
          <ac:spMkLst>
            <pc:docMk/>
            <pc:sldMk cId="4223270066" sldId="303"/>
            <ac:spMk id="4" creationId="{E2961DAF-A195-C89A-3778-C5D19692E93C}"/>
          </ac:spMkLst>
        </pc:spChg>
        <pc:spChg chg="add mod">
          <ac:chgData name="Eisner, Andreas" userId="8d5af959-7e10-4620-8bf2-f274fa18d173" providerId="ADAL" clId="{986AF251-B7D6-4143-A197-AEABA49420D5}" dt="2026-04-14T09:33:27.130" v="205" actId="6549"/>
          <ac:spMkLst>
            <pc:docMk/>
            <pc:sldMk cId="4223270066" sldId="303"/>
            <ac:spMk id="7" creationId="{0AF983B5-2216-848E-AF1A-4731CE2F8276}"/>
          </ac:spMkLst>
        </pc:spChg>
      </pc:sldChg>
      <pc:sldChg chg="addSp delSp modSp new mod">
        <pc:chgData name="Eisner, Andreas" userId="8d5af959-7e10-4620-8bf2-f274fa18d173" providerId="ADAL" clId="{986AF251-B7D6-4143-A197-AEABA49420D5}" dt="2026-04-14T09:40:12.983" v="264" actId="20577"/>
        <pc:sldMkLst>
          <pc:docMk/>
          <pc:sldMk cId="746337580" sldId="304"/>
        </pc:sldMkLst>
        <pc:spChg chg="mod">
          <ac:chgData name="Eisner, Andreas" userId="8d5af959-7e10-4620-8bf2-f274fa18d173" providerId="ADAL" clId="{986AF251-B7D6-4143-A197-AEABA49420D5}" dt="2026-04-14T09:38:26.946" v="218" actId="20577"/>
          <ac:spMkLst>
            <pc:docMk/>
            <pc:sldMk cId="746337580" sldId="304"/>
            <ac:spMk id="2" creationId="{86A07C97-3AE1-BFED-DCAC-F9E578C98139}"/>
          </ac:spMkLst>
        </pc:spChg>
        <pc:spChg chg="mod">
          <ac:chgData name="Eisner, Andreas" userId="8d5af959-7e10-4620-8bf2-f274fa18d173" providerId="ADAL" clId="{986AF251-B7D6-4143-A197-AEABA49420D5}" dt="2026-04-14T09:38:23.114" v="216" actId="6549"/>
          <ac:spMkLst>
            <pc:docMk/>
            <pc:sldMk cId="746337580" sldId="304"/>
            <ac:spMk id="4" creationId="{FECE78CA-BCF0-0142-6F0D-4E036E4D4C20}"/>
          </ac:spMkLst>
        </pc:spChg>
        <pc:spChg chg="add mod">
          <ac:chgData name="Eisner, Andreas" userId="8d5af959-7e10-4620-8bf2-f274fa18d173" providerId="ADAL" clId="{986AF251-B7D6-4143-A197-AEABA49420D5}" dt="2026-04-14T09:40:12.983" v="264" actId="20577"/>
          <ac:spMkLst>
            <pc:docMk/>
            <pc:sldMk cId="746337580" sldId="304"/>
            <ac:spMk id="5" creationId="{D72285C0-8FFE-63AF-4043-8F751C95E050}"/>
          </ac:spMkLst>
        </pc:spChg>
      </pc:sldChg>
      <pc:sldChg chg="addSp delSp modSp new mod">
        <pc:chgData name="Eisner, Andreas" userId="8d5af959-7e10-4620-8bf2-f274fa18d173" providerId="ADAL" clId="{986AF251-B7D6-4143-A197-AEABA49420D5}" dt="2026-04-14T09:44:52.934" v="520" actId="20577"/>
        <pc:sldMkLst>
          <pc:docMk/>
          <pc:sldMk cId="3042729176" sldId="305"/>
        </pc:sldMkLst>
        <pc:spChg chg="mod">
          <ac:chgData name="Eisner, Andreas" userId="8d5af959-7e10-4620-8bf2-f274fa18d173" providerId="ADAL" clId="{986AF251-B7D6-4143-A197-AEABA49420D5}" dt="2026-04-14T09:40:41.264" v="280" actId="20577"/>
          <ac:spMkLst>
            <pc:docMk/>
            <pc:sldMk cId="3042729176" sldId="305"/>
            <ac:spMk id="2" creationId="{98E994F3-A2CE-D68A-6A25-8B4C6CE95381}"/>
          </ac:spMkLst>
        </pc:spChg>
        <pc:spChg chg="mod">
          <ac:chgData name="Eisner, Andreas" userId="8d5af959-7e10-4620-8bf2-f274fa18d173" providerId="ADAL" clId="{986AF251-B7D6-4143-A197-AEABA49420D5}" dt="2026-04-14T09:40:49.240" v="281"/>
          <ac:spMkLst>
            <pc:docMk/>
            <pc:sldMk cId="3042729176" sldId="305"/>
            <ac:spMk id="4" creationId="{BD7ACC0D-C425-9AB5-3BB4-FDB33C0244ED}"/>
          </ac:spMkLst>
        </pc:spChg>
        <pc:spChg chg="add mod">
          <ac:chgData name="Eisner, Andreas" userId="8d5af959-7e10-4620-8bf2-f274fa18d173" providerId="ADAL" clId="{986AF251-B7D6-4143-A197-AEABA49420D5}" dt="2026-04-14T09:44:52.934" v="520" actId="20577"/>
          <ac:spMkLst>
            <pc:docMk/>
            <pc:sldMk cId="3042729176" sldId="305"/>
            <ac:spMk id="5" creationId="{8E326345-8A7D-3187-C239-289E811F0F19}"/>
          </ac:spMkLst>
        </pc:spChg>
      </pc:sldChg>
      <pc:sldChg chg="addSp delSp modSp new mod">
        <pc:chgData name="Eisner, Andreas" userId="8d5af959-7e10-4620-8bf2-f274fa18d173" providerId="ADAL" clId="{986AF251-B7D6-4143-A197-AEABA49420D5}" dt="2026-04-14T10:34:28.615" v="767" actId="1076"/>
        <pc:sldMkLst>
          <pc:docMk/>
          <pc:sldMk cId="4272961882" sldId="306"/>
        </pc:sldMkLst>
        <pc:spChg chg="mod">
          <ac:chgData name="Eisner, Andreas" userId="8d5af959-7e10-4620-8bf2-f274fa18d173" providerId="ADAL" clId="{986AF251-B7D6-4143-A197-AEABA49420D5}" dt="2026-04-14T09:45:08.537" v="539" actId="20577"/>
          <ac:spMkLst>
            <pc:docMk/>
            <pc:sldMk cId="4272961882" sldId="306"/>
            <ac:spMk id="2" creationId="{F3AEE205-62AF-D477-AFF0-C763B147ED80}"/>
          </ac:spMkLst>
        </pc:spChg>
        <pc:spChg chg="mod">
          <ac:chgData name="Eisner, Andreas" userId="8d5af959-7e10-4620-8bf2-f274fa18d173" providerId="ADAL" clId="{986AF251-B7D6-4143-A197-AEABA49420D5}" dt="2026-04-14T09:45:44.646" v="600" actId="20577"/>
          <ac:spMkLst>
            <pc:docMk/>
            <pc:sldMk cId="4272961882" sldId="306"/>
            <ac:spMk id="4" creationId="{E20C50D2-8BDF-29F6-A74D-BED1E272A2D6}"/>
          </ac:spMkLst>
        </pc:spChg>
        <pc:spChg chg="add mod">
          <ac:chgData name="Eisner, Andreas" userId="8d5af959-7e10-4620-8bf2-f274fa18d173" providerId="ADAL" clId="{986AF251-B7D6-4143-A197-AEABA49420D5}" dt="2026-04-14T09:46:24.411" v="613" actId="27636"/>
          <ac:spMkLst>
            <pc:docMk/>
            <pc:sldMk cId="4272961882" sldId="306"/>
            <ac:spMk id="6" creationId="{50654282-DA6F-82F3-F675-ED6F7FD81FBE}"/>
          </ac:spMkLst>
        </pc:spChg>
        <pc:graphicFrameChg chg="add mod modGraphic">
          <ac:chgData name="Eisner, Andreas" userId="8d5af959-7e10-4620-8bf2-f274fa18d173" providerId="ADAL" clId="{986AF251-B7D6-4143-A197-AEABA49420D5}" dt="2026-04-14T10:34:28.615" v="767" actId="1076"/>
          <ac:graphicFrameMkLst>
            <pc:docMk/>
            <pc:sldMk cId="4272961882" sldId="306"/>
            <ac:graphicFrameMk id="7" creationId="{F08FF161-75E5-F132-ADE8-A0A167E1C494}"/>
          </ac:graphicFrameMkLst>
        </pc:graphicFrameChg>
      </pc:sldChg>
      <pc:sldChg chg="modSp new mod">
        <pc:chgData name="Eisner, Andreas" userId="8d5af959-7e10-4620-8bf2-f274fa18d173" providerId="ADAL" clId="{986AF251-B7D6-4143-A197-AEABA49420D5}" dt="2026-04-14T10:39:26.816" v="1162" actId="20577"/>
        <pc:sldMkLst>
          <pc:docMk/>
          <pc:sldMk cId="3341137449" sldId="307"/>
        </pc:sldMkLst>
        <pc:spChg chg="mod">
          <ac:chgData name="Eisner, Andreas" userId="8d5af959-7e10-4620-8bf2-f274fa18d173" providerId="ADAL" clId="{986AF251-B7D6-4143-A197-AEABA49420D5}" dt="2026-04-14T10:34:49.718" v="780" actId="20577"/>
          <ac:spMkLst>
            <pc:docMk/>
            <pc:sldMk cId="3341137449" sldId="307"/>
            <ac:spMk id="2" creationId="{5A7FB799-5C78-9B03-E8DB-20D6830DCB05}"/>
          </ac:spMkLst>
        </pc:spChg>
        <pc:spChg chg="mod">
          <ac:chgData name="Eisner, Andreas" userId="8d5af959-7e10-4620-8bf2-f274fa18d173" providerId="ADAL" clId="{986AF251-B7D6-4143-A197-AEABA49420D5}" dt="2026-04-14T10:39:26.816" v="1162" actId="20577"/>
          <ac:spMkLst>
            <pc:docMk/>
            <pc:sldMk cId="3341137449" sldId="307"/>
            <ac:spMk id="3" creationId="{D9F54D91-CDCB-A3A3-D252-D0B9976C8FC4}"/>
          </ac:spMkLst>
        </pc:spChg>
        <pc:spChg chg="mod">
          <ac:chgData name="Eisner, Andreas" userId="8d5af959-7e10-4620-8bf2-f274fa18d173" providerId="ADAL" clId="{986AF251-B7D6-4143-A197-AEABA49420D5}" dt="2026-04-14T10:35:41.611" v="844" actId="20577"/>
          <ac:spMkLst>
            <pc:docMk/>
            <pc:sldMk cId="3341137449" sldId="307"/>
            <ac:spMk id="4" creationId="{2643ADEB-3E25-250D-32E2-51A4E11F1E99}"/>
          </ac:spMkLst>
        </pc:spChg>
      </pc:sldChg>
      <pc:sldChg chg="addSp modSp new mod">
        <pc:chgData name="Eisner, Andreas" userId="8d5af959-7e10-4620-8bf2-f274fa18d173" providerId="ADAL" clId="{986AF251-B7D6-4143-A197-AEABA49420D5}" dt="2026-04-14T11:33:16.449" v="1680" actId="27636"/>
        <pc:sldMkLst>
          <pc:docMk/>
          <pc:sldMk cId="2640256931" sldId="308"/>
        </pc:sldMkLst>
        <pc:spChg chg="mod">
          <ac:chgData name="Eisner, Andreas" userId="8d5af959-7e10-4620-8bf2-f274fa18d173" providerId="ADAL" clId="{986AF251-B7D6-4143-A197-AEABA49420D5}" dt="2026-04-14T10:39:53.221" v="1165" actId="27636"/>
          <ac:spMkLst>
            <pc:docMk/>
            <pc:sldMk cId="2640256931" sldId="308"/>
            <ac:spMk id="2" creationId="{C9A549F9-EA9F-B511-5F8E-5D2C3B25108B}"/>
          </ac:spMkLst>
        </pc:spChg>
        <pc:spChg chg="mod">
          <ac:chgData name="Eisner, Andreas" userId="8d5af959-7e10-4620-8bf2-f274fa18d173" providerId="ADAL" clId="{986AF251-B7D6-4143-A197-AEABA49420D5}" dt="2026-04-14T11:33:16.449" v="1680" actId="27636"/>
          <ac:spMkLst>
            <pc:docMk/>
            <pc:sldMk cId="2640256931" sldId="308"/>
            <ac:spMk id="3" creationId="{43193C3D-0706-9173-9758-85F71ED2E16D}"/>
          </ac:spMkLst>
        </pc:spChg>
        <pc:spChg chg="mod">
          <ac:chgData name="Eisner, Andreas" userId="8d5af959-7e10-4620-8bf2-f274fa18d173" providerId="ADAL" clId="{986AF251-B7D6-4143-A197-AEABA49420D5}" dt="2026-04-14T10:46:52.204" v="1275" actId="20577"/>
          <ac:spMkLst>
            <pc:docMk/>
            <pc:sldMk cId="2640256931" sldId="308"/>
            <ac:spMk id="4" creationId="{637E360E-33CA-5887-26AA-7D7D6E19B38A}"/>
          </ac:spMkLst>
        </pc:spChg>
      </pc:sldChg>
      <pc:sldChg chg="addSp modSp new mod">
        <pc:chgData name="Eisner, Andreas" userId="8d5af959-7e10-4620-8bf2-f274fa18d173" providerId="ADAL" clId="{986AF251-B7D6-4143-A197-AEABA49420D5}" dt="2026-04-14T11:34:55.880" v="1683" actId="113"/>
        <pc:sldMkLst>
          <pc:docMk/>
          <pc:sldMk cId="3893970362" sldId="309"/>
        </pc:sldMkLst>
        <pc:spChg chg="mod">
          <ac:chgData name="Eisner, Andreas" userId="8d5af959-7e10-4620-8bf2-f274fa18d173" providerId="ADAL" clId="{986AF251-B7D6-4143-A197-AEABA49420D5}" dt="2026-04-14T11:27:36.801" v="1568" actId="27636"/>
          <ac:spMkLst>
            <pc:docMk/>
            <pc:sldMk cId="3893970362" sldId="309"/>
            <ac:spMk id="2" creationId="{BC9E3900-6A7A-F4BD-37B3-9AF2BAE64315}"/>
          </ac:spMkLst>
        </pc:spChg>
        <pc:spChg chg="mod">
          <ac:chgData name="Eisner, Andreas" userId="8d5af959-7e10-4620-8bf2-f274fa18d173" providerId="ADAL" clId="{986AF251-B7D6-4143-A197-AEABA49420D5}" dt="2026-04-14T11:34:55.880" v="1683" actId="113"/>
          <ac:spMkLst>
            <pc:docMk/>
            <pc:sldMk cId="3893970362" sldId="309"/>
            <ac:spMk id="3" creationId="{CA26B7C8-EFD0-40C7-1B91-3A8390008BF9}"/>
          </ac:spMkLst>
        </pc:spChg>
        <pc:spChg chg="mod">
          <ac:chgData name="Eisner, Andreas" userId="8d5af959-7e10-4620-8bf2-f274fa18d173" providerId="ADAL" clId="{986AF251-B7D6-4143-A197-AEABA49420D5}" dt="2026-04-14T11:32:40.209" v="1675" actId="20577"/>
          <ac:spMkLst>
            <pc:docMk/>
            <pc:sldMk cId="3893970362" sldId="309"/>
            <ac:spMk id="4" creationId="{A345917E-5936-B40F-8010-AA5B514B0BDE}"/>
          </ac:spMkLst>
        </pc:spChg>
      </pc:sldChg>
      <pc:sldChg chg="addSp delSp modSp add mod modClrScheme chgLayout">
        <pc:chgData name="Eisner, Andreas" userId="8d5af959-7e10-4620-8bf2-f274fa18d173" providerId="ADAL" clId="{986AF251-B7D6-4143-A197-AEABA49420D5}" dt="2026-04-17T11:05:34.064" v="2134" actId="6549"/>
        <pc:sldMkLst>
          <pc:docMk/>
          <pc:sldMk cId="1272388757" sldId="310"/>
        </pc:sldMkLst>
        <pc:spChg chg="del mod ord">
          <ac:chgData name="Eisner, Andreas" userId="8d5af959-7e10-4620-8bf2-f274fa18d173" providerId="ADAL" clId="{986AF251-B7D6-4143-A197-AEABA49420D5}" dt="2026-04-17T10:08:09.210" v="1689" actId="478"/>
          <ac:spMkLst>
            <pc:docMk/>
            <pc:sldMk cId="1272388757" sldId="310"/>
            <ac:spMk id="2" creationId="{90EC1223-8470-A946-46A8-C515347510EA}"/>
          </ac:spMkLst>
        </pc:spChg>
        <pc:spChg chg="mod ord">
          <ac:chgData name="Eisner, Andreas" userId="8d5af959-7e10-4620-8bf2-f274fa18d173" providerId="ADAL" clId="{986AF251-B7D6-4143-A197-AEABA49420D5}" dt="2026-04-17T11:04:45.885" v="2130" actId="27636"/>
          <ac:spMkLst>
            <pc:docMk/>
            <pc:sldMk cId="1272388757" sldId="310"/>
            <ac:spMk id="3" creationId="{6482D264-9CC6-4BEF-5451-57CE19D2471C}"/>
          </ac:spMkLst>
        </pc:spChg>
        <pc:spChg chg="add mod ord">
          <ac:chgData name="Eisner, Andreas" userId="8d5af959-7e10-4620-8bf2-f274fa18d173" providerId="ADAL" clId="{986AF251-B7D6-4143-A197-AEABA49420D5}" dt="2026-04-17T10:08:38.232" v="1716" actId="20577"/>
          <ac:spMkLst>
            <pc:docMk/>
            <pc:sldMk cId="1272388757" sldId="310"/>
            <ac:spMk id="4" creationId="{D9CCF50D-7BBF-1164-4BB3-DE8D10E461EB}"/>
          </ac:spMkLst>
        </pc:spChg>
        <pc:spChg chg="add mod ord">
          <ac:chgData name="Eisner, Andreas" userId="8d5af959-7e10-4620-8bf2-f274fa18d173" providerId="ADAL" clId="{986AF251-B7D6-4143-A197-AEABA49420D5}" dt="2026-04-17T10:08:41.911" v="1724" actId="20577"/>
          <ac:spMkLst>
            <pc:docMk/>
            <pc:sldMk cId="1272388757" sldId="310"/>
            <ac:spMk id="5" creationId="{7188F238-5530-3F3C-866C-2C85C9EE34BA}"/>
          </ac:spMkLst>
        </pc:spChg>
        <pc:spChg chg="mod ord">
          <ac:chgData name="Eisner, Andreas" userId="8d5af959-7e10-4620-8bf2-f274fa18d173" providerId="ADAL" clId="{986AF251-B7D6-4143-A197-AEABA49420D5}" dt="2026-04-17T11:05:34.064" v="2134" actId="6549"/>
          <ac:spMkLst>
            <pc:docMk/>
            <pc:sldMk cId="1272388757" sldId="310"/>
            <ac:spMk id="6" creationId="{205E1525-413B-6C98-350A-6EB5D79D1E94}"/>
          </ac:spMkLst>
        </pc:spChg>
        <pc:spChg chg="add del mod">
          <ac:chgData name="Eisner, Andreas" userId="8d5af959-7e10-4620-8bf2-f274fa18d173" providerId="ADAL" clId="{986AF251-B7D6-4143-A197-AEABA49420D5}" dt="2026-04-17T10:08:20.959" v="1692" actId="478"/>
          <ac:spMkLst>
            <pc:docMk/>
            <pc:sldMk cId="1272388757" sldId="310"/>
            <ac:spMk id="8" creationId="{35FC3130-09FD-DD7B-49C9-55A44795245C}"/>
          </ac:spMkLst>
        </pc:spChg>
        <pc:spChg chg="add mod">
          <ac:chgData name="Eisner, Andreas" userId="8d5af959-7e10-4620-8bf2-f274fa18d173" providerId="ADAL" clId="{986AF251-B7D6-4143-A197-AEABA49420D5}" dt="2026-04-17T10:08:31.198" v="1713" actId="20577"/>
          <ac:spMkLst>
            <pc:docMk/>
            <pc:sldMk cId="1272388757" sldId="310"/>
            <ac:spMk id="9" creationId="{800044AD-2057-8AED-B988-2F2A0F4C2D87}"/>
          </ac:spMkLst>
        </pc:spChg>
        <pc:spChg chg="add mod">
          <ac:chgData name="Eisner, Andreas" userId="8d5af959-7e10-4620-8bf2-f274fa18d173" providerId="ADAL" clId="{986AF251-B7D6-4143-A197-AEABA49420D5}" dt="2026-04-17T10:08:17.184" v="1690"/>
          <ac:spMkLst>
            <pc:docMk/>
            <pc:sldMk cId="1272388757" sldId="310"/>
            <ac:spMk id="10" creationId="{443A88E0-9E88-39F4-F3FB-723043F2795D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 dirty="0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3E22D0-69DB-4AD2-BFDB-B6B0697DB30B}" type="datetimeFigureOut">
              <a:rPr lang="de-DE" smtClean="0"/>
              <a:t>17.04.2026</a:t>
            </a:fld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62C47E-A6F7-498A-BC00-873284D75D54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16685457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 dirty="0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D0A2B6-884F-47F1-97D4-56FF4241B1BC}" type="datetimeFigureOut">
              <a:rPr lang="de-DE" smtClean="0"/>
              <a:t>16.04.2026</a:t>
            </a:fld>
            <a:endParaRPr lang="de-DE" dirty="0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 dirty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de-DE" noProof="0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FF654A-7554-4E4B-9F02-6F44B6EE5359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8734816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FF654A-7554-4E4B-9F02-6F44B6EE5359}" type="slidenum">
              <a:rPr lang="de-DE" smtClean="0"/>
              <a:t>1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2340251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DE"/>
          </a:p>
        </p:txBody>
      </p:sp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  <a:prstGeom prst="rect">
            <a:avLst/>
          </a:prstGeom>
        </p:spPr>
        <p:txBody>
          <a:bodyPr rtlCol="0"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r>
              <a:rPr lang="de-DE" noProof="0"/>
              <a:t>Mastertitelformat bearbeiten</a:t>
            </a:r>
            <a:endParaRPr lang="de-DE" noProof="0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 rtlCol="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pPr rtl="0"/>
            <a:r>
              <a:rPr lang="de-DE" noProof="0"/>
              <a:t>Master-Untertitelformat bearbeiten</a:t>
            </a:r>
            <a:endParaRPr lang="de-DE" noProof="0" dirty="0"/>
          </a:p>
        </p:txBody>
      </p:sp>
      <p:cxnSp>
        <p:nvCxnSpPr>
          <p:cNvPr id="9" name="Gerader Verbinder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A53FAFE-A8FF-49BF-8B95-C1A5C14FF84D}" type="datetime1">
              <a:rPr lang="de-DE" noProof="0" smtClean="0"/>
              <a:t>16.04.2026</a:t>
            </a:fld>
            <a:endParaRPr lang="de-DE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de-DE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de-DE" noProof="0" smtClean="0"/>
              <a:t>‹Nr.›</a:t>
            </a:fld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26234375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702305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de-DE" noProof="0" dirty="0"/>
              <a:t>Mastertitelformat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/>
            <a:r>
              <a:rPr lang="de-DE" noProof="0"/>
              <a:t>Mastertextformat bearbeiten</a:t>
            </a:r>
          </a:p>
          <a:p>
            <a:pPr lvl="1" rtl="0"/>
            <a:r>
              <a:rPr lang="de-DE" noProof="0"/>
              <a:t>Zweite Ebene</a:t>
            </a:r>
          </a:p>
          <a:p>
            <a:pPr lvl="2" rtl="0"/>
            <a:r>
              <a:rPr lang="de-DE" noProof="0"/>
              <a:t>Dritte Ebene</a:t>
            </a:r>
          </a:p>
          <a:p>
            <a:pPr lvl="3" rtl="0"/>
            <a:r>
              <a:rPr lang="de-DE" noProof="0"/>
              <a:t>Vierte Ebene</a:t>
            </a:r>
          </a:p>
          <a:p>
            <a:pPr lvl="4" rtl="0"/>
            <a:r>
              <a:rPr lang="de-DE" noProof="0"/>
              <a:t>Fünfte Ebene</a:t>
            </a:r>
            <a:endParaRPr lang="de-DE" noProof="0" dirty="0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5DA952A-262B-4C09-82C5-587247F1B81B}" type="datetime1">
              <a:rPr lang="de-DE" noProof="0" smtClean="0"/>
              <a:t>16.04.2026</a:t>
            </a:fld>
            <a:endParaRPr lang="de-DE" noProof="0" dirty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de-DE" noProof="0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de-DE" noProof="0" smtClean="0"/>
              <a:t>‹Nr.›</a:t>
            </a:fld>
            <a:endParaRPr lang="de-DE" noProof="0" dirty="0"/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07D31E47-83C9-1088-E155-4202466A5B57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096963" y="1069975"/>
            <a:ext cx="10058400" cy="7762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de-DE" dirty="0" err="1"/>
              <a:t>Subtitle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5404659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Abschnittsüberschrif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  <a:prstGeom prst="rect">
            <a:avLst/>
          </a:prstGeom>
        </p:spPr>
        <p:txBody>
          <a:bodyPr rtlCol="0"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r>
              <a:rPr lang="de-DE" noProof="0"/>
              <a:t>Mastertitelformat bearbeiten</a:t>
            </a:r>
            <a:endParaRPr lang="de-DE" noProof="0" dirty="0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rtlCol="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de-DE" noProof="0"/>
              <a:t>Mastertextformat bearbeiten</a:t>
            </a:r>
          </a:p>
        </p:txBody>
      </p:sp>
      <p:cxnSp>
        <p:nvCxnSpPr>
          <p:cNvPr id="9" name="Gerader Verbinder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F005D64-4B99-448C-A713-09FA5439052A}" type="datetime1">
              <a:rPr lang="de-DE" noProof="0" smtClean="0"/>
              <a:t>16.04.2026</a:t>
            </a:fld>
            <a:endParaRPr lang="de-DE" noProof="0" dirty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de-DE" noProof="0" dirty="0"/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de-DE" noProof="0" smtClean="0"/>
              <a:t>‹Nr.›</a:t>
            </a:fld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7627835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702303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de-DE" noProof="0" dirty="0"/>
              <a:t>Mastertitelformat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 rtlCol="0"/>
          <a:lstStyle/>
          <a:p>
            <a:pPr lvl="0" rtl="0"/>
            <a:r>
              <a:rPr lang="de-DE" noProof="0"/>
              <a:t>Mastertextformat bearbeiten</a:t>
            </a:r>
          </a:p>
          <a:p>
            <a:pPr lvl="1" rtl="0"/>
            <a:r>
              <a:rPr lang="de-DE" noProof="0"/>
              <a:t>Zweite Ebene</a:t>
            </a:r>
          </a:p>
          <a:p>
            <a:pPr lvl="2" rtl="0"/>
            <a:r>
              <a:rPr lang="de-DE" noProof="0"/>
              <a:t>Dritte Ebene</a:t>
            </a:r>
          </a:p>
          <a:p>
            <a:pPr lvl="3" rtl="0"/>
            <a:r>
              <a:rPr lang="de-DE" noProof="0"/>
              <a:t>Vierte Ebene</a:t>
            </a:r>
          </a:p>
          <a:p>
            <a:pPr lvl="4" rtl="0"/>
            <a:r>
              <a:rPr lang="de-DE" noProof="0"/>
              <a:t>Fünfte Ebene</a:t>
            </a:r>
            <a:endParaRPr lang="de-DE" noProof="0" dirty="0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 rtlCol="0"/>
          <a:lstStyle/>
          <a:p>
            <a:pPr lvl="0" rtl="0"/>
            <a:r>
              <a:rPr lang="de-DE" noProof="0"/>
              <a:t>Mastertextformat bearbeiten</a:t>
            </a:r>
          </a:p>
          <a:p>
            <a:pPr lvl="1" rtl="0"/>
            <a:r>
              <a:rPr lang="de-DE" noProof="0"/>
              <a:t>Zweite Ebene</a:t>
            </a:r>
          </a:p>
          <a:p>
            <a:pPr lvl="2" rtl="0"/>
            <a:r>
              <a:rPr lang="de-DE" noProof="0"/>
              <a:t>Dritte Ebene</a:t>
            </a:r>
          </a:p>
          <a:p>
            <a:pPr lvl="3" rtl="0"/>
            <a:r>
              <a:rPr lang="de-DE" noProof="0"/>
              <a:t>Vierte Ebene</a:t>
            </a:r>
          </a:p>
          <a:p>
            <a:pPr lvl="4" rtl="0"/>
            <a:r>
              <a:rPr lang="de-DE" noProof="0"/>
              <a:t>Fünfte Ebene</a:t>
            </a:r>
            <a:endParaRPr lang="de-DE" noProof="0" dirty="0"/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229FE05-7231-43BE-B847-3AFA4A19CBAA}" type="datetime1">
              <a:rPr lang="de-DE" noProof="0" smtClean="0"/>
              <a:t>16.04.2026</a:t>
            </a:fld>
            <a:endParaRPr lang="de-DE" noProof="0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de-DE" noProof="0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de-DE" noProof="0" smtClean="0"/>
              <a:t>‹Nr.›</a:t>
            </a:fld>
            <a:endParaRPr lang="de-DE" noProof="0" dirty="0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35F7DA48-27BB-3C4A-DFEF-4F9A7CBEC04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96963" y="1078302"/>
            <a:ext cx="10058400" cy="767961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de-DE" dirty="0" err="1"/>
              <a:t>Subtitle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588359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el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de-DE" noProof="0"/>
              <a:t>Mastertitelformat bearbeiten</a:t>
            </a:r>
            <a:endParaRPr lang="de-DE" noProof="0" dirty="0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rtlCol="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de-DE" noProof="0"/>
              <a:t>Mastertextformat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 rtlCol="0"/>
          <a:lstStyle/>
          <a:p>
            <a:pPr lvl="0" rtl="0"/>
            <a:r>
              <a:rPr lang="de-DE" noProof="0"/>
              <a:t>Mastertextformat bearbeiten</a:t>
            </a:r>
          </a:p>
          <a:p>
            <a:pPr lvl="1" rtl="0"/>
            <a:r>
              <a:rPr lang="de-DE" noProof="0"/>
              <a:t>Zweite Ebene</a:t>
            </a:r>
          </a:p>
          <a:p>
            <a:pPr lvl="2" rtl="0"/>
            <a:r>
              <a:rPr lang="de-DE" noProof="0"/>
              <a:t>Dritte Ebene</a:t>
            </a:r>
          </a:p>
          <a:p>
            <a:pPr lvl="3" rtl="0"/>
            <a:r>
              <a:rPr lang="de-DE" noProof="0"/>
              <a:t>Vierte Ebene</a:t>
            </a:r>
          </a:p>
          <a:p>
            <a:pPr lvl="4" rtl="0"/>
            <a:r>
              <a:rPr lang="de-DE" noProof="0"/>
              <a:t>Fünfte Ebene</a:t>
            </a:r>
            <a:endParaRPr lang="de-DE" noProof="0" dirty="0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rtlCol="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de-DE" noProof="0"/>
              <a:t>Mastertextformat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 rtlCol="0"/>
          <a:lstStyle/>
          <a:p>
            <a:pPr lvl="0" rtl="0"/>
            <a:r>
              <a:rPr lang="de-DE" noProof="0"/>
              <a:t>Mastertextformat bearbeiten</a:t>
            </a:r>
          </a:p>
          <a:p>
            <a:pPr lvl="1" rtl="0"/>
            <a:r>
              <a:rPr lang="de-DE" noProof="0"/>
              <a:t>Zweite Ebene</a:t>
            </a:r>
          </a:p>
          <a:p>
            <a:pPr lvl="2" rtl="0"/>
            <a:r>
              <a:rPr lang="de-DE" noProof="0"/>
              <a:t>Dritte Ebene</a:t>
            </a:r>
          </a:p>
          <a:p>
            <a:pPr lvl="3" rtl="0"/>
            <a:r>
              <a:rPr lang="de-DE" noProof="0"/>
              <a:t>Vierte Ebene</a:t>
            </a:r>
          </a:p>
          <a:p>
            <a:pPr lvl="4" rtl="0"/>
            <a:r>
              <a:rPr lang="de-DE" noProof="0"/>
              <a:t>Fünfte Ebene</a:t>
            </a:r>
            <a:endParaRPr lang="de-DE" noProof="0" dirty="0"/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B53D26F-6680-425F-97AB-0E8697BD65E2}" type="datetime1">
              <a:rPr lang="de-DE" noProof="0" smtClean="0"/>
              <a:t>16.04.2026</a:t>
            </a:fld>
            <a:endParaRPr lang="de-DE" noProof="0" dirty="0"/>
          </a:p>
        </p:txBody>
      </p:sp>
      <p:sp>
        <p:nvSpPr>
          <p:cNvPr id="11" name="Fußzeilenplatzhalt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de-DE" noProof="0" dirty="0"/>
          </a:p>
        </p:txBody>
      </p:sp>
      <p:sp>
        <p:nvSpPr>
          <p:cNvPr id="12" name="Foliennummernplatzhalt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de-DE" noProof="0" smtClean="0"/>
              <a:t>‹Nr.›</a:t>
            </a:fld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19639257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de-DE" noProof="0"/>
              <a:t>Mastertitelformat bearbeiten</a:t>
            </a:r>
            <a:endParaRPr lang="de-DE" noProof="0" dirty="0"/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DA3ECD2-F655-4F1D-98E0-52599BF52BCA}" type="datetime1">
              <a:rPr lang="de-DE" noProof="0" smtClean="0"/>
              <a:t>16.04.2026</a:t>
            </a:fld>
            <a:endParaRPr lang="de-DE" noProof="0" dirty="0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de-DE" noProof="0" dirty="0"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de-DE" noProof="0" smtClean="0"/>
              <a:t>‹Nr.›</a:t>
            </a:fld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42685433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48DB74F-2903-429A-9E94-EB396A414E9D}" type="datetime1">
              <a:rPr lang="de-DE" noProof="0" smtClean="0"/>
              <a:t>16.04.2026</a:t>
            </a:fld>
            <a:endParaRPr lang="de-DE" noProof="0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de-DE" noProof="0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de-DE" noProof="0" smtClean="0"/>
              <a:t>‹Nr.›</a:t>
            </a:fld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1333937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Inhalt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  <a:prstGeom prst="rect">
            <a:avLst/>
          </a:prstGeom>
        </p:spPr>
        <p:txBody>
          <a:bodyPr rtlCol="0"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pPr rtl="0"/>
            <a:r>
              <a:rPr lang="de-DE" noProof="0"/>
              <a:t>Mastertitelformat bearbeiten</a:t>
            </a:r>
            <a:endParaRPr lang="de-DE" noProof="0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 rtlCol="0"/>
          <a:lstStyle/>
          <a:p>
            <a:pPr lvl="0" rtl="0"/>
            <a:r>
              <a:rPr lang="de-DE" noProof="0"/>
              <a:t>Mastertextformat bearbeiten</a:t>
            </a:r>
          </a:p>
          <a:p>
            <a:pPr lvl="1" rtl="0"/>
            <a:r>
              <a:rPr lang="de-DE" noProof="0"/>
              <a:t>Zweite Ebene</a:t>
            </a:r>
          </a:p>
          <a:p>
            <a:pPr lvl="2" rtl="0"/>
            <a:r>
              <a:rPr lang="de-DE" noProof="0"/>
              <a:t>Dritte Ebene</a:t>
            </a:r>
          </a:p>
          <a:p>
            <a:pPr lvl="3" rtl="0"/>
            <a:r>
              <a:rPr lang="de-DE" noProof="0"/>
              <a:t>Vierte Ebene</a:t>
            </a:r>
          </a:p>
          <a:p>
            <a:pPr lvl="4" rtl="0"/>
            <a:r>
              <a:rPr lang="de-DE" noProof="0"/>
              <a:t>Fünfte Ebene</a:t>
            </a:r>
            <a:endParaRPr lang="de-DE" noProof="0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 rtlCol="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de-DE" noProof="0"/>
              <a:t>Mastertextformat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 rtlCol="0"/>
          <a:lstStyle>
            <a:lvl1pPr algn="l">
              <a:defRPr/>
            </a:lvl1pPr>
          </a:lstStyle>
          <a:p>
            <a:pPr rtl="0"/>
            <a:fld id="{CFA574F0-4503-424B-A28D-924B84ECEA2A}" type="datetime1">
              <a:rPr lang="de-DE" noProof="0" smtClean="0"/>
              <a:t>16.04.2026</a:t>
            </a:fld>
            <a:endParaRPr lang="de-DE" noProof="0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 rtlCol="0"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pPr rtl="0"/>
            <a:endParaRPr lang="de-DE" noProof="0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3A98EE3D-8CD1-4C3F-BD1C-C98C9596463C}" type="slidenum">
              <a:rPr lang="de-DE" noProof="0" smtClean="0"/>
              <a:pPr/>
              <a:t>‹Nr.›</a:t>
            </a:fld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37711844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Bild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Bildplatzhalt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rtlCol="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  <a:prstGeom prst="rect">
            <a:avLst/>
          </a:prstGeom>
        </p:spPr>
        <p:txBody>
          <a:bodyPr tIns="0" bIns="0" rtlCol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pPr rtl="0"/>
            <a:r>
              <a:rPr lang="de-DE" noProof="0"/>
              <a:t>Mastertitelformat bearbeiten</a:t>
            </a:r>
            <a:endParaRPr lang="de-DE" noProof="0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 rtlCol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de-DE" noProof="0"/>
              <a:t>Mastertextformat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 rtl="0"/>
            <a:fld id="{93B6CE1F-19FD-43AD-A3FC-53284371392B}" type="datetime1">
              <a:rPr lang="de-DE" noProof="0" smtClean="0"/>
              <a:t>16.04.2026</a:t>
            </a:fld>
            <a:endParaRPr lang="de-DE" noProof="0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 rtlCol="0"/>
          <a:lstStyle/>
          <a:p>
            <a:pPr algn="l" rtl="0"/>
            <a:endParaRPr lang="de-DE" noProof="0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de-DE" noProof="0" smtClean="0"/>
              <a:t>‹Nr.›</a:t>
            </a:fld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12016137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DE"/>
          </a:p>
        </p:txBody>
      </p:sp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de-DE" noProof="0" dirty="0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 rtl="0"/>
            <a:r>
              <a:rPr lang="de-DE" noProof="0" dirty="0"/>
              <a:t>Textmasterformate durch Klicken bearbeiten</a:t>
            </a:r>
          </a:p>
          <a:p>
            <a:pPr lvl="1" rtl="0"/>
            <a:r>
              <a:rPr lang="de-DE" noProof="0" dirty="0"/>
              <a:t>Zweite Ebene</a:t>
            </a:r>
          </a:p>
          <a:p>
            <a:pPr lvl="2" rtl="0"/>
            <a:r>
              <a:rPr lang="de-DE" noProof="0" dirty="0"/>
              <a:t>Dritte Ebene</a:t>
            </a:r>
          </a:p>
          <a:p>
            <a:pPr lvl="3" rtl="0"/>
            <a:r>
              <a:rPr lang="de-DE" noProof="0" dirty="0"/>
              <a:t>Vierte Ebene</a:t>
            </a:r>
          </a:p>
          <a:p>
            <a:pPr lvl="4" rtl="0"/>
            <a:r>
              <a:rPr lang="de-DE" noProof="0" dirty="0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pPr rtl="0"/>
            <a:fld id="{5F6FD458-B8F2-4748-BB72-410F5C7102C5}" type="datetime1">
              <a:rPr lang="de-DE" noProof="0" smtClean="0"/>
              <a:t>16.04.2026</a:t>
            </a:fld>
            <a:endParaRPr lang="de-DE" noProof="0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</a:defRPr>
            </a:lvl1pPr>
          </a:lstStyle>
          <a:p>
            <a:pPr rtl="0"/>
            <a:endParaRPr lang="de-DE" noProof="0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pPr rtl="0"/>
            <a:fld id="{3A98EE3D-8CD1-4C3F-BD1C-C98C9596463C}" type="slidenum">
              <a:rPr lang="de-DE" noProof="0" smtClean="0"/>
              <a:t>‹Nr.›</a:t>
            </a:fld>
            <a:endParaRPr lang="de-DE" noProof="0" dirty="0"/>
          </a:p>
        </p:txBody>
      </p:sp>
      <p:cxnSp>
        <p:nvCxnSpPr>
          <p:cNvPr id="10" name="Gerader Verbinder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6030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700" i="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hteck 32">
            <a:extLst>
              <a:ext uri="{FF2B5EF4-FFF2-40B4-BE49-F238E27FC236}">
                <a16:creationId xmlns:a16="http://schemas.microsoft.com/office/drawing/2014/main" id="{2FDF0794-1B86-42B2-B8C7-F60123E638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88726" cy="68589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anose="020F0502020204030204"/>
              <a:ea typeface="+mn-ea"/>
              <a:cs typeface="+mn-cs"/>
            </a:endParaRPr>
          </a:p>
        </p:txBody>
      </p:sp>
      <p:pic>
        <p:nvPicPr>
          <p:cNvPr id="4" name="Bild 3" descr="Nahaufnahme eines Blatts Papier mit einem Bleistift darauf">
            <a:extLst>
              <a:ext uri="{FF2B5EF4-FFF2-40B4-BE49-F238E27FC236}">
                <a16:creationId xmlns:a16="http://schemas.microsoft.com/office/drawing/2014/main" id="{65810330-F0B5-43C9-BC34-094FFB5C0529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" y="975"/>
            <a:ext cx="12191980" cy="6858000"/>
          </a:xfrm>
          <a:prstGeom prst="rect">
            <a:avLst/>
          </a:prstGeom>
        </p:spPr>
      </p:pic>
      <p:sp>
        <p:nvSpPr>
          <p:cNvPr id="35" name="Rechteck 34">
            <a:extLst>
              <a:ext uri="{FF2B5EF4-FFF2-40B4-BE49-F238E27FC236}">
                <a16:creationId xmlns:a16="http://schemas.microsoft.com/office/drawing/2014/main" id="{C5373426-E26E-431D-959C-5DB96C0B62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12607" y="1238442"/>
            <a:ext cx="3635926" cy="4355751"/>
          </a:xfrm>
          <a:prstGeom prst="rect">
            <a:avLst/>
          </a:prstGeom>
          <a:solidFill>
            <a:schemeClr val="bg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anose="020F0502020204030204"/>
              <a:ea typeface="+mn-ea"/>
              <a:cs typeface="+mn-cs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AB2EA78-AEB3-469B-9025-3B17201A45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23416" y="1475234"/>
            <a:ext cx="3214307" cy="2901694"/>
          </a:xfrm>
        </p:spPr>
        <p:txBody>
          <a:bodyPr rtlCol="0" anchor="b">
            <a:normAutofit/>
          </a:bodyPr>
          <a:lstStyle/>
          <a:p>
            <a:r>
              <a:rPr lang="de-DE" sz="4400" dirty="0">
                <a:solidFill>
                  <a:schemeClr val="tx1"/>
                </a:solidFill>
              </a:rPr>
              <a:t>Real ERP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255E1F2F-E259-4EA8-9FFD-3A10AF5418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27750" y="4608576"/>
            <a:ext cx="3205640" cy="774186"/>
          </a:xfrm>
        </p:spPr>
        <p:txBody>
          <a:bodyPr rtlCol="0" anchor="t">
            <a:normAutofit/>
          </a:bodyPr>
          <a:lstStyle/>
          <a:p>
            <a:pPr rtl="0">
              <a:lnSpc>
                <a:spcPct val="100000"/>
              </a:lnSpc>
            </a:pPr>
            <a:r>
              <a:rPr lang="de-DE" sz="1600" dirty="0"/>
              <a:t>Das ERP für den Mittelstand</a:t>
            </a:r>
          </a:p>
        </p:txBody>
      </p:sp>
      <p:cxnSp>
        <p:nvCxnSpPr>
          <p:cNvPr id="37" name="Gerader Verbinder 36">
            <a:extLst>
              <a:ext uri="{FF2B5EF4-FFF2-40B4-BE49-F238E27FC236}">
                <a16:creationId xmlns:a16="http://schemas.microsoft.com/office/drawing/2014/main" id="{96D07482-83A3-4451-943C-B469610829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176090" y="4508519"/>
            <a:ext cx="310896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echteck 38">
            <a:extLst>
              <a:ext uri="{FF2B5EF4-FFF2-40B4-BE49-F238E27FC236}">
                <a16:creationId xmlns:a16="http://schemas.microsoft.com/office/drawing/2014/main" id="{EDC90921-9082-491B-940E-827D679F34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rgbClr val="262626">
              <a:alpha val="9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31439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ACDB8DA-E683-91BE-93B5-4B772D93CF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 dirty="0"/>
              <a:t>Ausgangslage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DFB195F-0596-B0CF-D764-D230DF17E5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e-DE" dirty="0"/>
              <a:t>Der Mittelstand (ab </a:t>
            </a:r>
            <a:r>
              <a:rPr lang="de-DE" b="1" dirty="0"/>
              <a:t>&gt;50 Mio. € Umsatz</a:t>
            </a:r>
            <a:r>
              <a:rPr lang="de-DE" dirty="0"/>
              <a:t>) steckt in einem Dilemma:</a:t>
            </a:r>
            <a:br>
              <a:rPr lang="de-DE" dirty="0"/>
            </a:br>
            <a:r>
              <a:rPr lang="de-DE" dirty="0"/>
              <a:t>ERP ist geschäftskritisch – aber die dominierenden Systeme (SAP, Microsoft Dynamics, Oracle &amp; Co.) sind: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de-DE" b="1" dirty="0"/>
              <a:t>komplex in der Bedienung</a:t>
            </a:r>
            <a:r>
              <a:rPr lang="de-DE" dirty="0"/>
              <a:t> (Spezialwissen nötig),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de-DE" b="1" dirty="0"/>
              <a:t>langsam in der Umsetzung</a:t>
            </a:r>
            <a:r>
              <a:rPr lang="de-DE" dirty="0"/>
              <a:t> (Monate/Jahre),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de-DE" b="1" dirty="0"/>
              <a:t>teuer und intransparent</a:t>
            </a:r>
            <a:r>
              <a:rPr lang="de-DE" dirty="0"/>
              <a:t> (v. a. </a:t>
            </a:r>
            <a:r>
              <a:rPr lang="de-DE" dirty="0" err="1"/>
              <a:t>Subscription</a:t>
            </a:r>
            <a:r>
              <a:rPr lang="de-DE" dirty="0"/>
              <a:t>-/Add-on-Kosten),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de-DE" b="1" dirty="0"/>
              <a:t>technologisch schwerfällig</a:t>
            </a:r>
            <a:r>
              <a:rPr lang="de-DE" dirty="0"/>
              <a:t> (Monolithen, begrenzte Automatisierung).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de-DE" dirty="0"/>
          </a:p>
          <a:p>
            <a:r>
              <a:rPr lang="de-DE" b="1" dirty="0"/>
              <a:t>Das Ergebnis</a:t>
            </a:r>
            <a:r>
              <a:rPr lang="de-DE" dirty="0"/>
              <a:t>: Unternehmen zahlen hohe TCO, sind abhängig von Beratern – und können Prozesse nicht schnell genug anpassen.</a:t>
            </a:r>
          </a:p>
          <a:p>
            <a:endParaRPr lang="de-DE" dirty="0"/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D147790A-8D4C-2C94-7649-63476AE47AFE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de-DE" b="1" dirty="0"/>
              <a:t>Klassische ERPs sind zu teuer, zu langsam, zu komplex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501849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D0AC48-8E18-D0A3-65C4-E87910B617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platzhalter 3">
            <a:extLst>
              <a:ext uri="{FF2B5EF4-FFF2-40B4-BE49-F238E27FC236}">
                <a16:creationId xmlns:a16="http://schemas.microsoft.com/office/drawing/2014/main" id="{D9CCF50D-7BBF-1164-4BB3-DE8D10E461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BDO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482D264-9CC6-4BEF-5451-57CE19D2471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de-DE" sz="1800" dirty="0"/>
              <a:t>Kompensation AI/Digitalisierung durch Disruption Kerngeschäft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de-DE" sz="1800" dirty="0"/>
              <a:t>Neue Digitale Services / Wachstum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de-DE" sz="1800" dirty="0"/>
              <a:t>T&amp;M Dienste </a:t>
            </a:r>
            <a:r>
              <a:rPr lang="de-DE" sz="1800" dirty="0">
                <a:sym typeface="Wingdings" panose="05000000000000000000" pitchFamily="2" charset="2"/>
              </a:rPr>
              <a:t> </a:t>
            </a:r>
            <a:r>
              <a:rPr lang="de-DE" sz="1800" dirty="0"/>
              <a:t>nachhaltiges Servicegeschäft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de-DE" sz="1800" dirty="0"/>
              <a:t>Ausbau Mittelstandsgeschäft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de-DE" sz="1800" dirty="0"/>
              <a:t>Monetarisierung Investments</a:t>
            </a:r>
          </a:p>
          <a:p>
            <a:pPr>
              <a:buFont typeface="Wingdings" panose="05000000000000000000" pitchFamily="2" charset="2"/>
              <a:buChar char="Ø"/>
            </a:pPr>
            <a:endParaRPr lang="de-DE" sz="1800" dirty="0"/>
          </a:p>
          <a:p>
            <a:endParaRPr lang="de-DE" sz="1800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7188F238-5530-3F3C-866C-2C85C9EE34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de-DE" dirty="0" err="1"/>
              <a:t>RealCore</a:t>
            </a:r>
            <a:endParaRPr lang="de-DE" dirty="0"/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205E1525-413B-6C98-350A-6EB5D79D1E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5943" y="2958273"/>
            <a:ext cx="5243437" cy="2910821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de-DE" sz="1800" dirty="0"/>
              <a:t>Reduktion Abhängigkeit zu SAP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de-DE" sz="1800" dirty="0"/>
              <a:t>Kompensation AI/Digitalisierung durch Disruption Kerngeschäft (T&amp;M Rückgang)</a:t>
            </a:r>
          </a:p>
          <a:p>
            <a:pPr marL="0" indent="0">
              <a:buNone/>
            </a:pPr>
            <a:r>
              <a:rPr lang="de-DE" sz="1800" dirty="0"/>
              <a:t>Interessen: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de-DE" sz="1800" dirty="0"/>
              <a:t>Zertifizierung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de-DE" sz="1800" dirty="0"/>
              <a:t>Vertrieb und Marketing (200 Kunden)</a:t>
            </a:r>
          </a:p>
        </p:txBody>
      </p:sp>
      <p:sp>
        <p:nvSpPr>
          <p:cNvPr id="9" name="Titel 1">
            <a:extLst>
              <a:ext uri="{FF2B5EF4-FFF2-40B4-BE49-F238E27FC236}">
                <a16:creationId xmlns:a16="http://schemas.microsoft.com/office/drawing/2014/main" id="{800044AD-2057-8AED-B988-2F2A0F4C2D87}"/>
              </a:ext>
            </a:extLst>
          </p:cNvPr>
          <p:cNvSpPr txBox="1">
            <a:spLocks/>
          </p:cNvSpPr>
          <p:nvPr/>
        </p:nvSpPr>
        <p:spPr>
          <a:xfrm>
            <a:off x="1097280" y="286603"/>
            <a:ext cx="10058400" cy="70230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700" i="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dirty="0"/>
              <a:t>Vorteile / Interessen</a:t>
            </a:r>
          </a:p>
        </p:txBody>
      </p:sp>
      <p:sp>
        <p:nvSpPr>
          <p:cNvPr id="10" name="Inhaltsplatzhalter 3">
            <a:extLst>
              <a:ext uri="{FF2B5EF4-FFF2-40B4-BE49-F238E27FC236}">
                <a16:creationId xmlns:a16="http://schemas.microsoft.com/office/drawing/2014/main" id="{443A88E0-9E88-39F4-F3FB-723043F2795D}"/>
              </a:ext>
            </a:extLst>
          </p:cNvPr>
          <p:cNvSpPr txBox="1">
            <a:spLocks/>
          </p:cNvSpPr>
          <p:nvPr/>
        </p:nvSpPr>
        <p:spPr>
          <a:xfrm>
            <a:off x="1096963" y="1069975"/>
            <a:ext cx="10058400" cy="776288"/>
          </a:xfrm>
          <a:prstGeom prst="rect">
            <a:avLst/>
          </a:prstGeom>
        </p:spPr>
        <p:txBody>
          <a:bodyPr/>
          <a:lstStyle>
            <a:lvl1pPr marL="91440" indent="-9144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1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7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/>
              <a:t>Vollwertiges, modulares ERP – Finance/Controlling als Speerspitze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2723887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C3628E-9435-3227-C400-2F074DE9BB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2D4A911-E8EE-2EDB-6F73-A61574479B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 dirty="0"/>
              <a:t>Unser Ansatz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6885E0D-BF4C-A6FD-06DA-2AD06DEF0F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e-DE" dirty="0" err="1"/>
              <a:t>RealERP</a:t>
            </a:r>
            <a:r>
              <a:rPr lang="de-DE" dirty="0"/>
              <a:t> baut ERP neu – nicht als „noch ein UI“, sondern als </a:t>
            </a:r>
            <a:r>
              <a:rPr lang="de-DE" b="1" dirty="0"/>
              <a:t>Prozess- und Datenplattform</a:t>
            </a:r>
            <a:r>
              <a:rPr lang="de-DE" dirty="0"/>
              <a:t>, die sich wie moderne Software verhält: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de-DE" b="1" dirty="0"/>
              <a:t>AI-first</a:t>
            </a:r>
            <a:r>
              <a:rPr lang="de-DE" dirty="0"/>
              <a:t>: Vorgänge in Buchhaltung/Controlling werden per Sprache, Assistenz oder </a:t>
            </a:r>
            <a:r>
              <a:rPr lang="de-DE" b="1" dirty="0"/>
              <a:t>vollautomatisiert durch AI-Agenten</a:t>
            </a:r>
            <a:r>
              <a:rPr lang="de-DE" dirty="0"/>
              <a:t> erledigt.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de-DE" b="1" dirty="0" err="1"/>
              <a:t>Headless</a:t>
            </a:r>
            <a:r>
              <a:rPr lang="de-DE" dirty="0"/>
              <a:t>: Prozesse und Daten sind sauber über APIs entkoppelt – UI, Integrationen und Automatisierung können flexibel aufgebaut werden.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de-DE" b="1" dirty="0"/>
              <a:t>Zielbild</a:t>
            </a:r>
            <a:r>
              <a:rPr lang="de-DE" dirty="0"/>
              <a:t>: Unternehmensvorgänge werden </a:t>
            </a:r>
            <a:r>
              <a:rPr lang="de-DE" b="1" dirty="0"/>
              <a:t>ohne Spezialkenntnisse</a:t>
            </a:r>
            <a:r>
              <a:rPr lang="de-DE" dirty="0"/>
              <a:t> ausführbar – oder laufen </a:t>
            </a:r>
            <a:r>
              <a:rPr lang="de-DE" b="1" dirty="0"/>
              <a:t>autonom</a:t>
            </a:r>
            <a:r>
              <a:rPr lang="de-DE" dirty="0"/>
              <a:t> mit Audit-Trail und Berechtigungskonzept.</a:t>
            </a:r>
          </a:p>
          <a:p>
            <a:r>
              <a:rPr lang="de-DE" dirty="0"/>
              <a:t>Das ist nicht „AI als Feature“, sondern </a:t>
            </a:r>
            <a:r>
              <a:rPr lang="de-DE" b="1" dirty="0"/>
              <a:t>AI als Bedien- und Ausführungsschicht</a:t>
            </a:r>
            <a:r>
              <a:rPr lang="de-DE" dirty="0"/>
              <a:t> über dem ERP-Kern (inkl. Workflow-/Agenten-Logik und Tool-Integration).</a:t>
            </a:r>
          </a:p>
          <a:p>
            <a:endParaRPr lang="de-DE" dirty="0"/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132FB2AA-A749-794E-42D4-E946352C41B2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de-DE" b="1" dirty="0"/>
              <a:t>ERP muss „AI-first“ und „</a:t>
            </a:r>
            <a:r>
              <a:rPr lang="de-DE" b="1" dirty="0" err="1"/>
              <a:t>headless</a:t>
            </a:r>
            <a:r>
              <a:rPr lang="de-DE" b="1" dirty="0"/>
              <a:t>“ werden</a:t>
            </a:r>
          </a:p>
        </p:txBody>
      </p:sp>
    </p:spTree>
    <p:extLst>
      <p:ext uri="{BB962C8B-B14F-4D97-AF65-F5344CB8AC3E}">
        <p14:creationId xmlns:p14="http://schemas.microsoft.com/office/powerpoint/2010/main" val="7909681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A88276C-3B1A-58BD-E28F-298B07F524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 dirty="0"/>
              <a:t>Das Produkt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E2961DAF-A195-C89A-3778-C5D19692E93C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de-DE" dirty="0"/>
              <a:t>Vollwertiges, modulares ERP – Finance/Controlling als Speerspitze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0AF983B5-2216-848E-AF1A-4731CE2F827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97280" y="2069146"/>
            <a:ext cx="10058400" cy="3839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kumimoji="0" lang="de-DE" altLang="de-DE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RealERP</a:t>
            </a:r>
            <a:r>
              <a:rPr kumimoji="0" lang="de-DE" altLang="de-D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ist eine </a:t>
            </a:r>
            <a:r>
              <a:rPr kumimoji="0" lang="de-DE" altLang="de-DE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modulare ERP-Plattform</a:t>
            </a:r>
            <a:r>
              <a:rPr kumimoji="0" lang="de-DE" altLang="de-D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mit breiter Prozessabdeckung (u. a. FI/CO, Sales, </a:t>
            </a:r>
            <a:r>
              <a:rPr kumimoji="0" lang="de-DE" altLang="de-DE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Purchasing</a:t>
            </a:r>
            <a:r>
              <a:rPr kumimoji="0" lang="de-DE" altLang="de-D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de-DE" altLang="de-DE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Inventory</a:t>
            </a:r>
            <a:r>
              <a:rPr kumimoji="0" lang="de-DE" altLang="de-D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HR, Manufacturing).</a:t>
            </a:r>
            <a:br>
              <a:rPr kumimoji="0" lang="de-DE" altLang="de-D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de-DE" altLang="de-D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Für Deutschland ist insbesondere relevant: </a:t>
            </a:r>
            <a:r>
              <a:rPr kumimoji="0" lang="de-DE" altLang="de-DE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GoBD</a:t>
            </a:r>
            <a:r>
              <a:rPr kumimoji="0" lang="de-DE" altLang="de-DE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/DATEV/ELSTER</a:t>
            </a:r>
            <a:r>
              <a:rPr kumimoji="0" lang="de-DE" altLang="de-D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-Fähigkeit und </a:t>
            </a:r>
            <a:r>
              <a:rPr kumimoji="0" lang="de-DE" altLang="de-DE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Auditierbarkeit</a:t>
            </a:r>
            <a:br>
              <a:rPr kumimoji="0" lang="de-DE" altLang="de-D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de-DE" altLang="de-D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lang="de-DE" sz="1800" b="1" dirty="0"/>
              <a:t>Der Reifegrad (1.10.2026)</a:t>
            </a:r>
            <a:endParaRPr lang="de-DE" sz="1800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de-DE" sz="1600" dirty="0"/>
              <a:t>Kernprodukt ist </a:t>
            </a:r>
            <a:r>
              <a:rPr lang="de-DE" sz="1600" b="1" dirty="0"/>
              <a:t>vom Wirtschaftsprüfer testiert.</a:t>
            </a:r>
            <a:endParaRPr lang="de-DE" sz="1600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de-DE" sz="1600" dirty="0"/>
              <a:t>Produkt ist </a:t>
            </a:r>
            <a:r>
              <a:rPr lang="de-DE" sz="1600" b="1" dirty="0"/>
              <a:t>verkaufs- und einsatzfähig</a:t>
            </a:r>
            <a:r>
              <a:rPr lang="de-DE" sz="1600" dirty="0"/>
              <a:t>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de-DE" sz="1600" b="1" dirty="0"/>
              <a:t>Customer Zero</a:t>
            </a:r>
            <a:r>
              <a:rPr lang="de-DE" sz="1600" dirty="0"/>
              <a:t>: Die </a:t>
            </a:r>
            <a:r>
              <a:rPr lang="de-DE" sz="1600" dirty="0" err="1"/>
              <a:t>RealCore</a:t>
            </a:r>
            <a:r>
              <a:rPr lang="de-DE" sz="1600" dirty="0"/>
              <a:t> Gruppe nutzt das </a:t>
            </a:r>
            <a:r>
              <a:rPr lang="de-DE" sz="1600" dirty="0" err="1"/>
              <a:t>RealERP</a:t>
            </a:r>
            <a:r>
              <a:rPr lang="de-DE" sz="1600" dirty="0"/>
              <a:t> selbst produktiv.</a:t>
            </a:r>
            <a:endParaRPr lang="de-DE" sz="1600" b="1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de-DE" sz="1600" b="1" dirty="0" err="1"/>
              <a:t>Refernez</a:t>
            </a:r>
            <a:r>
              <a:rPr lang="de-DE" sz="1600" b="1" dirty="0"/>
              <a:t> Kunde</a:t>
            </a:r>
            <a:r>
              <a:rPr lang="de-DE" sz="1600" dirty="0"/>
              <a:t>: ein </a:t>
            </a:r>
            <a:r>
              <a:rPr lang="de-DE" sz="1600" b="1" dirty="0"/>
              <a:t>MDAX-Kunde</a:t>
            </a:r>
            <a:r>
              <a:rPr lang="de-DE" sz="1600" dirty="0"/>
              <a:t> nutzt </a:t>
            </a:r>
            <a:r>
              <a:rPr lang="de-DE" sz="1600" dirty="0" err="1"/>
              <a:t>RealERP</a:t>
            </a:r>
            <a:r>
              <a:rPr lang="de-DE" sz="1600" dirty="0"/>
              <a:t> selbst produktiv.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de-DE" sz="1600" b="1" dirty="0"/>
              <a:t>800.000 €</a:t>
            </a:r>
            <a:r>
              <a:rPr lang="de-DE" sz="1600" dirty="0"/>
              <a:t> Produktentwicklung wurde bereits durch Eigentümer finanziert.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232700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6A07C97-3AE1-BFED-DCAC-F9E578C981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 dirty="0"/>
              <a:t>Unfair Advantage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FECE78CA-BCF0-0142-6F0D-4E036E4D4C20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de-DE" dirty="0"/>
              <a:t>Go-</a:t>
            </a:r>
            <a:r>
              <a:rPr lang="de-DE" dirty="0" err="1"/>
              <a:t>to</a:t>
            </a:r>
            <a:r>
              <a:rPr lang="de-DE" dirty="0"/>
              <a:t>-Market-Mechanik: </a:t>
            </a:r>
            <a:r>
              <a:rPr lang="de-DE" dirty="0" err="1"/>
              <a:t>RealCore</a:t>
            </a:r>
            <a:r>
              <a:rPr lang="de-DE" dirty="0"/>
              <a:t>-Netzwerk + Partner-</a:t>
            </a:r>
            <a:r>
              <a:rPr lang="de-DE" dirty="0" err="1"/>
              <a:t>Delivery</a:t>
            </a:r>
            <a:r>
              <a:rPr lang="de-DE" dirty="0"/>
              <a:t> + Produkt-Substanz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D72285C0-8FFE-63AF-4043-8F751C95E05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96963" y="1955038"/>
            <a:ext cx="11211018" cy="47890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de-DE" altLang="de-DE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sym typeface="Wingdings" panose="05000000000000000000" pitchFamily="2" charset="2"/>
              </a:rPr>
              <a:t> </a:t>
            </a:r>
            <a:r>
              <a:rPr kumimoji="0" lang="de-DE" altLang="de-DE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Wir gewinnen die Kunden</a:t>
            </a:r>
            <a:r>
              <a:rPr kumimoji="0" lang="de-DE" altLang="de-D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liefern die Produktstory, die Roadmap und die Referenzfähigkeit.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de-DE" altLang="de-DE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sym typeface="Wingdings" panose="05000000000000000000" pitchFamily="2" charset="2"/>
              </a:rPr>
              <a:t> </a:t>
            </a:r>
            <a:r>
              <a:rPr kumimoji="0" lang="de-DE" altLang="de-DE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Implementierung im Partnermodell</a:t>
            </a:r>
            <a:r>
              <a:rPr kumimoji="0" lang="de-DE" altLang="de-D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Partner skalieren Rollout, Migration, Prozessdesign, Integrationen.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de-DE" altLang="de-DE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de-DE" altLang="de-DE" sz="2000" b="1" dirty="0">
                <a:solidFill>
                  <a:schemeClr val="tx1"/>
                </a:solidFill>
                <a:latin typeface="Arial" panose="020B0604020202020204" pitchFamily="34" charset="0"/>
              </a:rPr>
              <a:t>Märkte:</a:t>
            </a:r>
          </a:p>
          <a:p>
            <a:r>
              <a:rPr lang="de-DE" sz="1800" b="1" dirty="0"/>
              <a:t>Deutschland:</a:t>
            </a:r>
            <a:br>
              <a:rPr lang="de-DE" sz="1800" dirty="0"/>
            </a:br>
            <a:r>
              <a:rPr lang="de-DE" sz="1800" dirty="0"/>
              <a:t>Hier ist Verdrängung von SAP/Microsoft nur realistisch mit </a:t>
            </a:r>
            <a:r>
              <a:rPr lang="de-DE" sz="1800" b="1" dirty="0"/>
              <a:t>starker Nutzung des </a:t>
            </a:r>
            <a:r>
              <a:rPr lang="de-DE" sz="1800" b="1" dirty="0" err="1"/>
              <a:t>RealCore</a:t>
            </a:r>
            <a:r>
              <a:rPr lang="de-DE" sz="1800" b="1" dirty="0"/>
              <a:t>-Netzwerks</a:t>
            </a:r>
            <a:r>
              <a:rPr lang="de-DE" sz="1800" dirty="0"/>
              <a:t> </a:t>
            </a:r>
            <a:br>
              <a:rPr lang="de-DE" sz="1800" dirty="0"/>
            </a:br>
            <a:r>
              <a:rPr lang="de-DE" sz="1800" dirty="0"/>
              <a:t>also mit Zugang, Vertrauen, </a:t>
            </a:r>
            <a:r>
              <a:rPr lang="de-DE" sz="1800" dirty="0" err="1"/>
              <a:t>Delivery</a:t>
            </a:r>
            <a:r>
              <a:rPr lang="de-DE" sz="1800" dirty="0"/>
              <a:t>-Kapazität und Referenzen.</a:t>
            </a:r>
          </a:p>
          <a:p>
            <a:r>
              <a:rPr lang="de-DE" sz="1800" b="1" dirty="0"/>
              <a:t>Süd-/Osteuropa:</a:t>
            </a:r>
            <a:br>
              <a:rPr lang="de-DE" sz="1800" dirty="0"/>
            </a:br>
            <a:r>
              <a:rPr lang="de-DE" sz="1800" dirty="0"/>
              <a:t>Geringere SAP-Durchdringung + geringere Bereitschaft, </a:t>
            </a:r>
            <a:r>
              <a:rPr lang="de-DE" sz="1800" b="1" dirty="0"/>
              <a:t>intransparente </a:t>
            </a:r>
            <a:r>
              <a:rPr lang="de-DE" sz="1800" b="1" dirty="0" err="1"/>
              <a:t>Subscription</a:t>
            </a:r>
            <a:r>
              <a:rPr lang="de-DE" sz="1800" b="1" dirty="0"/>
              <a:t>-Kosten</a:t>
            </a:r>
            <a:r>
              <a:rPr lang="de-DE" sz="1800" dirty="0"/>
              <a:t> zu akzeptieren</a:t>
            </a:r>
            <a:br>
              <a:rPr lang="de-DE" sz="1800" dirty="0"/>
            </a:br>
            <a:r>
              <a:rPr lang="de-DE" sz="1800" dirty="0">
                <a:sym typeface="Wingdings" panose="05000000000000000000" pitchFamily="2" charset="2"/>
              </a:rPr>
              <a:t> </a:t>
            </a:r>
            <a:r>
              <a:rPr lang="de-DE" sz="1800" dirty="0"/>
              <a:t>schnellerer Markteintritt möglich.</a:t>
            </a:r>
          </a:p>
          <a:p>
            <a:r>
              <a:rPr lang="de-DE" sz="1800" b="1" dirty="0"/>
              <a:t>USA (Wachstumsmarkt):</a:t>
            </a:r>
            <a:br>
              <a:rPr lang="de-DE" sz="1800" dirty="0"/>
            </a:br>
            <a:r>
              <a:rPr lang="de-DE" sz="1800" dirty="0"/>
              <a:t>Stark umkämpft (Oracle, Microsoft, SAP, Quicken), aber </a:t>
            </a:r>
            <a:r>
              <a:rPr lang="de-DE" sz="1800" dirty="0" err="1"/>
              <a:t>RealERP</a:t>
            </a:r>
            <a:r>
              <a:rPr lang="de-DE" sz="1800" dirty="0"/>
              <a:t> trifft einen klaren Sweet Spot: </a:t>
            </a:r>
            <a:br>
              <a:rPr lang="de-DE" sz="1800" dirty="0"/>
            </a:br>
            <a:r>
              <a:rPr lang="de-DE" sz="1800" b="1" dirty="0"/>
              <a:t>agile, technologieaffine Unternehmen</a:t>
            </a:r>
            <a:r>
              <a:rPr lang="de-DE" sz="1800" dirty="0"/>
              <a:t>, die Geschwindigkeit, Automatisierung und API-first erwarten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de-DE" altLang="de-D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7463375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8E994F3-A2CE-D68A-6A25-8B4C6CE953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 dirty="0"/>
              <a:t>Positionierung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BD7ACC0D-C425-9AB5-3BB4-FDB33C0244ED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de-DE" dirty="0"/>
              <a:t>Ersetzt SAP &amp; Dynamics im Mittelstand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8E326345-8A7D-3187-C239-289E811F0F1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96963" y="2021731"/>
            <a:ext cx="9849876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RealERP</a:t>
            </a:r>
            <a:r>
              <a:rPr kumimoji="0" lang="de-DE" altLang="de-D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positioniert sich bewusst als </a:t>
            </a:r>
            <a:r>
              <a:rPr kumimoji="0" lang="de-DE" altLang="de-DE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Replacement</a:t>
            </a:r>
            <a:r>
              <a:rPr kumimoji="0" lang="de-DE" altLang="de-DE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-ERP</a:t>
            </a:r>
            <a:r>
              <a:rPr kumimoji="0" lang="de-DE" altLang="de-D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für den Mittelstand: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altLang="de-D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de-DE" altLang="de-DE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Weniger Abhängigkeit von Spezialisten</a:t>
            </a:r>
            <a:r>
              <a:rPr kumimoji="0" lang="de-DE" altLang="de-D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(AI-gestützte Ausführung &amp; Assistenz)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de-DE" altLang="de-DE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Schnellere Implementierung</a:t>
            </a:r>
            <a:r>
              <a:rPr kumimoji="0" lang="de-DE" altLang="de-D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de-DE" altLang="de-DE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headless</a:t>
            </a:r>
            <a:r>
              <a:rPr kumimoji="0" lang="de-DE" altLang="de-D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modular, partnerfähig)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de-DE" altLang="de-DE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Bessere Automatisierung</a:t>
            </a:r>
            <a:r>
              <a:rPr kumimoji="0" lang="de-DE" altLang="de-D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(Workflows + Agenten, mit Berechtigungen &amp; Audit)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de-DE" altLang="de-DE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Enterprise-Grade Security/Compliance</a:t>
            </a:r>
            <a:r>
              <a:rPr kumimoji="0" lang="de-DE" altLang="de-D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(RBAC, Audit, </a:t>
            </a:r>
            <a:r>
              <a:rPr kumimoji="0" lang="de-DE" altLang="de-DE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GoBD</a:t>
            </a:r>
            <a:r>
              <a:rPr kumimoji="0" lang="de-DE" altLang="de-D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-Mechaniken)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de-DE" altLang="de-D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Kurz: Nicht „billigeres ERP“, sondern </a:t>
            </a:r>
            <a:r>
              <a:rPr kumimoji="0" lang="de-DE" altLang="de-DE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ERP, das man wirklich bedienen und verändern kann</a:t>
            </a:r>
            <a:r>
              <a:rPr kumimoji="0" lang="de-DE" altLang="de-D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und das Arbeit automatisiert, statt sie nur zu dokumentieren.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de-DE" altLang="de-DE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Kostenersparnis</a:t>
            </a:r>
            <a:r>
              <a:rPr kumimoji="0" lang="de-DE" altLang="de-DE" sz="18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durch massiv gestiegene Effizienz in der Sachbearbeitung </a:t>
            </a:r>
            <a:br>
              <a:rPr kumimoji="0" lang="de-DE" altLang="de-DE" sz="18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de-DE" altLang="de-DE" sz="18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sym typeface="Wingdings" panose="05000000000000000000" pitchFamily="2" charset="2"/>
              </a:rPr>
              <a:t> Ersparnis von 7</a:t>
            </a:r>
            <a:r>
              <a:rPr kumimoji="0" lang="de-DE" altLang="de-DE" sz="18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0% Bearbeitungszeit je Vorgang</a:t>
            </a:r>
            <a:endParaRPr kumimoji="0" lang="de-DE" altLang="de-D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27291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3AEE205-62AF-D477-AFF0-C763B147ED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 dirty="0"/>
              <a:t>Monetarisierung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E20C50D2-8BDF-29F6-A74D-BED1E272A2D6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de-DE" dirty="0" err="1"/>
              <a:t>RealERP</a:t>
            </a:r>
            <a:r>
              <a:rPr lang="de-DE" dirty="0"/>
              <a:t> ist als </a:t>
            </a:r>
            <a:r>
              <a:rPr lang="de-DE" b="1" dirty="0"/>
              <a:t>Enterprise-Produkt</a:t>
            </a:r>
            <a:r>
              <a:rPr lang="de-DE" dirty="0"/>
              <a:t> bepreist – mit Wahl zwischen SaaS und On-Prem.</a:t>
            </a:r>
            <a:br>
              <a:rPr lang="de-DE" dirty="0"/>
            </a:br>
            <a:r>
              <a:rPr lang="de-DE" dirty="0"/>
              <a:t>Kunde erwerben eine Lizenz und besitzen die Software.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50654282-DA6F-82F3-F675-ED6F7FD81F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r>
              <a:rPr lang="de-DE" dirty="0"/>
              <a:t>Implementierung/Migration/Integrationen sind </a:t>
            </a:r>
            <a:r>
              <a:rPr lang="de-DE" b="1" dirty="0"/>
              <a:t>separat</a:t>
            </a:r>
            <a:r>
              <a:rPr lang="de-DE" dirty="0"/>
              <a:t> (Partner-/Projektgeschäft).</a:t>
            </a:r>
          </a:p>
        </p:txBody>
      </p:sp>
      <p:graphicFrame>
        <p:nvGraphicFramePr>
          <p:cNvPr id="7" name="Tabelle 6">
            <a:extLst>
              <a:ext uri="{FF2B5EF4-FFF2-40B4-BE49-F238E27FC236}">
                <a16:creationId xmlns:a16="http://schemas.microsoft.com/office/drawing/2014/main" id="{F08FF161-75E5-F132-ADE8-A0A167E1C4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154341"/>
              </p:ext>
            </p:extLst>
          </p:nvPr>
        </p:nvGraphicFramePr>
        <p:xfrm>
          <a:off x="1173018" y="2225192"/>
          <a:ext cx="8497455" cy="297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39581">
                  <a:extLst>
                    <a:ext uri="{9D8B030D-6E8A-4147-A177-3AD203B41FA5}">
                      <a16:colId xmlns:a16="http://schemas.microsoft.com/office/drawing/2014/main" val="107275600"/>
                    </a:ext>
                  </a:extLst>
                </a:gridCol>
                <a:gridCol w="3125389">
                  <a:extLst>
                    <a:ext uri="{9D8B030D-6E8A-4147-A177-3AD203B41FA5}">
                      <a16:colId xmlns:a16="http://schemas.microsoft.com/office/drawing/2014/main" val="2296940069"/>
                    </a:ext>
                  </a:extLst>
                </a:gridCol>
                <a:gridCol w="2832485">
                  <a:extLst>
                    <a:ext uri="{9D8B030D-6E8A-4147-A177-3AD203B41FA5}">
                      <a16:colId xmlns:a16="http://schemas.microsoft.com/office/drawing/2014/main" val="2204131890"/>
                    </a:ext>
                  </a:extLst>
                </a:gridCol>
              </a:tblGrid>
              <a:tr h="399203"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109204"/>
                  </a:ext>
                </a:extLst>
              </a:tr>
              <a:tr h="399203">
                <a:tc>
                  <a:txBody>
                    <a:bodyPr/>
                    <a:lstStyle/>
                    <a:p>
                      <a:r>
                        <a:rPr lang="de-DE" dirty="0"/>
                        <a:t>SaaS Grundsystem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Deutschland (bis 50 User)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dirty="0"/>
                        <a:t>12.000 € / Monat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7006462"/>
                  </a:ext>
                </a:extLst>
              </a:tr>
              <a:tr h="689034">
                <a:tc>
                  <a:txBody>
                    <a:bodyPr/>
                    <a:lstStyle/>
                    <a:p>
                      <a:r>
                        <a:rPr lang="de-DE" dirty="0"/>
                        <a:t>SaaS </a:t>
                      </a:r>
                      <a:r>
                        <a:rPr lang="de-DE" dirty="0" err="1"/>
                        <a:t>AddOn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Je Ländervariante oder Buchungskreis (bis 5 User)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dirty="0"/>
                        <a:t>2.500 € / Monat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6375849"/>
                  </a:ext>
                </a:extLst>
              </a:tr>
              <a:tr h="399203">
                <a:tc>
                  <a:txBody>
                    <a:bodyPr/>
                    <a:lstStyle/>
                    <a:p>
                      <a:r>
                        <a:rPr lang="de-DE" dirty="0"/>
                        <a:t>On-Prem Lizenz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Grundsystem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dirty="0"/>
                        <a:t>350.000 € einmalig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0131651"/>
                  </a:ext>
                </a:extLst>
              </a:tr>
              <a:tr h="689034">
                <a:tc>
                  <a:txBody>
                    <a:bodyPr/>
                    <a:lstStyle/>
                    <a:p>
                      <a:r>
                        <a:rPr lang="de-DE" dirty="0"/>
                        <a:t>On-Prem </a:t>
                      </a:r>
                      <a:r>
                        <a:rPr lang="de-DE" dirty="0" err="1"/>
                        <a:t>AddOn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dirty="0"/>
                        <a:t>Je Ländervariante oder Buchungskreis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dirty="0"/>
                        <a:t>50.000 € einmalig</a:t>
                      </a:r>
                    </a:p>
                    <a:p>
                      <a:pPr algn="r"/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8977513"/>
                  </a:ext>
                </a:extLst>
              </a:tr>
              <a:tr h="399203">
                <a:tc>
                  <a:txBody>
                    <a:bodyPr/>
                    <a:lstStyle/>
                    <a:p>
                      <a:r>
                        <a:rPr lang="de-DE" dirty="0"/>
                        <a:t>Wartung/Support: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dirty="0"/>
                        <a:t>20% von Lizenzsumme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12376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729618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A7FB799-5C78-9B03-E8DB-20D6830DCB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 dirty="0"/>
              <a:t>Warum jetzt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9F54D91-CDCB-A3A3-D252-D0B9976C8F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Mehrere Trends öffnen ein seltenes </a:t>
            </a:r>
            <a:r>
              <a:rPr lang="de-DE" dirty="0" err="1"/>
              <a:t>Replacement</a:t>
            </a:r>
            <a:r>
              <a:rPr lang="de-DE" dirty="0"/>
              <a:t>-Fenster:</a:t>
            </a:r>
            <a:br>
              <a:rPr lang="de-DE" dirty="0"/>
            </a:br>
            <a:endParaRPr lang="de-DE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de-DE" sz="1800" dirty="0"/>
              <a:t>SAP Abkündigung von </a:t>
            </a:r>
            <a:r>
              <a:rPr lang="de-DE" sz="1800" dirty="0" err="1"/>
              <a:t>onPrem</a:t>
            </a:r>
            <a:r>
              <a:rPr lang="de-DE" sz="1800" dirty="0"/>
              <a:t> Lizenzverträge (2027/2023) – Cloud Zwang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de-DE" sz="1800" dirty="0"/>
              <a:t>CFO-Organisationen brauche </a:t>
            </a:r>
            <a:r>
              <a:rPr lang="de-DE" sz="1800" b="1" dirty="0"/>
              <a:t>Effizienz</a:t>
            </a:r>
            <a:r>
              <a:rPr lang="de-DE" sz="1800" dirty="0"/>
              <a:t> und </a:t>
            </a:r>
            <a:r>
              <a:rPr lang="de-DE" sz="1800" b="1" dirty="0"/>
              <a:t>Automatisierung</a:t>
            </a:r>
            <a:r>
              <a:rPr lang="de-DE" sz="1800" dirty="0"/>
              <a:t> in Verwaltungsprozessen.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de-DE" sz="1800" dirty="0"/>
              <a:t>Unternehmen sind </a:t>
            </a:r>
            <a:r>
              <a:rPr lang="de-DE" sz="1800" dirty="0" err="1"/>
              <a:t>subscription</a:t>
            </a:r>
            <a:r>
              <a:rPr lang="de-DE" sz="1800" dirty="0"/>
              <a:t>-müde und suchen </a:t>
            </a:r>
            <a:r>
              <a:rPr lang="de-DE" sz="1800" b="1" dirty="0"/>
              <a:t>Kostenklarheit und Planbarkeit</a:t>
            </a:r>
            <a:r>
              <a:rPr lang="de-DE" sz="1800" dirty="0"/>
              <a:t>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de-DE" sz="1800" dirty="0"/>
              <a:t>ERP Hersteller können AI nicht zum integraler Bestandteil des Produktes machen sondern es nur draufpacken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de-DE" sz="1800" dirty="0"/>
              <a:t>Dadurch fehlt die </a:t>
            </a:r>
            <a:r>
              <a:rPr lang="de-DE" sz="1800" b="1" dirty="0"/>
              <a:t>prozesssichere, </a:t>
            </a:r>
            <a:r>
              <a:rPr lang="de-DE" sz="1800" b="1" dirty="0" err="1"/>
              <a:t>auditierbare</a:t>
            </a:r>
            <a:r>
              <a:rPr lang="de-DE" sz="1800" b="1" dirty="0"/>
              <a:t> Umsetzung</a:t>
            </a:r>
            <a:r>
              <a:rPr lang="de-DE" sz="1800" dirty="0"/>
              <a:t> (</a:t>
            </a:r>
            <a:r>
              <a:rPr lang="de-DE" sz="1800" dirty="0" err="1"/>
              <a:t>RealERP</a:t>
            </a:r>
            <a:r>
              <a:rPr lang="de-DE" sz="1800" dirty="0"/>
              <a:t> setzt genau dort an)</a:t>
            </a:r>
          </a:p>
          <a:p>
            <a:endParaRPr lang="de-DE" dirty="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2643ADEB-3E25-250D-32E2-51A4E11F1E9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de-DE" dirty="0"/>
              <a:t>AI und Kostendruck haben das „</a:t>
            </a:r>
            <a:r>
              <a:rPr lang="de-DE" dirty="0" err="1"/>
              <a:t>Window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Opportunity</a:t>
            </a:r>
            <a:r>
              <a:rPr lang="de-DE" dirty="0"/>
              <a:t>“ geöffnet</a:t>
            </a:r>
          </a:p>
        </p:txBody>
      </p:sp>
    </p:spTree>
    <p:extLst>
      <p:ext uri="{BB962C8B-B14F-4D97-AF65-F5344CB8AC3E}">
        <p14:creationId xmlns:p14="http://schemas.microsoft.com/office/powerpoint/2010/main" val="33411374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9A549F9-EA9F-B511-5F8E-5D2C3B2510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 dirty="0"/>
              <a:t>Die 5-Jahres-Ambition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3193C3D-0706-9173-9758-85F71ED2E1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e-DE" b="1" dirty="0"/>
              <a:t>Logik: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de-DE" dirty="0"/>
              <a:t>Enterprise Value (EV) ≈ ARR × Multiple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de-DE" dirty="0"/>
              <a:t>60% </a:t>
            </a:r>
            <a:r>
              <a:rPr lang="de-DE" dirty="0" err="1"/>
              <a:t>Subscription</a:t>
            </a:r>
            <a:r>
              <a:rPr lang="de-DE" dirty="0"/>
              <a:t> / 40% Lizenzkauf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de-DE" dirty="0"/>
              <a:t>Lizenzkauf (einmalig) hilft Cash/Finanzierung, aber zählt nicht als ARR → beeinflusst EV nur indirekt (Wachstum, Profitabilität).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de-DE" dirty="0"/>
          </a:p>
          <a:p>
            <a:pPr marL="201168" lvl="1" indent="0">
              <a:buNone/>
            </a:pPr>
            <a:r>
              <a:rPr lang="de-DE" dirty="0"/>
              <a:t>ARR = 12,5 </a:t>
            </a:r>
            <a:r>
              <a:rPr lang="de-DE" dirty="0" err="1"/>
              <a:t>mio</a:t>
            </a:r>
            <a:br>
              <a:rPr lang="de-DE" dirty="0"/>
            </a:br>
            <a:r>
              <a:rPr lang="de-DE" dirty="0"/>
              <a:t>Anzahl Kunden = 88 </a:t>
            </a:r>
            <a:r>
              <a:rPr lang="de-DE" dirty="0" err="1"/>
              <a:t>Subscription</a:t>
            </a:r>
            <a:r>
              <a:rPr lang="de-DE" dirty="0"/>
              <a:t> / 55 Kunden Lizenzkauf</a:t>
            </a:r>
          </a:p>
          <a:p>
            <a:pPr marL="201168" lvl="1" indent="0">
              <a:buNone/>
            </a:pPr>
            <a:endParaRPr lang="de-DE" dirty="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637E360E-33CA-5887-26AA-7D7D6E19B38A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de-DE" dirty="0"/>
              <a:t>Ziel ist in 5 Jahren einen </a:t>
            </a:r>
            <a:r>
              <a:rPr lang="de-DE" b="1" dirty="0"/>
              <a:t>Unternehmenswert von 100 Mio. € </a:t>
            </a:r>
            <a:r>
              <a:rPr lang="de-DE" dirty="0"/>
              <a:t>zu erreichen.</a:t>
            </a:r>
            <a:br>
              <a:rPr lang="de-DE" dirty="0"/>
            </a:br>
            <a:r>
              <a:rPr lang="de-DE" dirty="0"/>
              <a:t>Für ein stark wachsendes B2B-SaaS mit Enterprise-Charakter ist ein </a:t>
            </a:r>
            <a:r>
              <a:rPr lang="de-DE" b="1" dirty="0"/>
              <a:t>8× ARR</a:t>
            </a:r>
            <a:r>
              <a:rPr lang="de-DE" dirty="0"/>
              <a:t> anzunehmen</a:t>
            </a:r>
          </a:p>
        </p:txBody>
      </p:sp>
    </p:spTree>
    <p:extLst>
      <p:ext uri="{BB962C8B-B14F-4D97-AF65-F5344CB8AC3E}">
        <p14:creationId xmlns:p14="http://schemas.microsoft.com/office/powerpoint/2010/main" val="26402569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C9E3900-6A7A-F4BD-37B3-9AF2BAE643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 dirty="0"/>
              <a:t>Unit Economics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A26B7C8-EFD0-40C7-1B91-3A8390008B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Preis (Baseline):€12.000 MRR / €144k ARRGM-Ziel 60% </a:t>
            </a:r>
            <a:br>
              <a:rPr lang="de-DE" dirty="0"/>
            </a:br>
            <a:r>
              <a:rPr lang="de-DE" dirty="0"/>
              <a:t>⇒ </a:t>
            </a:r>
            <a:r>
              <a:rPr lang="de-DE" b="1" dirty="0"/>
              <a:t>COGS-Budget</a:t>
            </a:r>
            <a:r>
              <a:rPr lang="de-DE" dirty="0"/>
              <a:t> = 40% = €4.800 / Monat pro Kunde </a:t>
            </a:r>
          </a:p>
          <a:p>
            <a:r>
              <a:rPr lang="de-DE" dirty="0"/>
              <a:t>Gross Profit / Jahr = €144k × 60% = €86,4k</a:t>
            </a:r>
            <a:br>
              <a:rPr lang="de-DE" dirty="0"/>
            </a:br>
            <a:r>
              <a:rPr lang="de-DE" dirty="0"/>
              <a:t>Payback 18 Monate (=1,5 Jahre) </a:t>
            </a:r>
            <a:br>
              <a:rPr lang="de-DE" dirty="0"/>
            </a:br>
            <a:r>
              <a:rPr lang="de-DE" dirty="0"/>
              <a:t>⇒ Basis-CAC ≈ 1,5 × €86,4k = €129,6k</a:t>
            </a:r>
            <a:br>
              <a:rPr lang="de-DE" dirty="0"/>
            </a:br>
            <a:r>
              <a:rPr lang="de-DE" dirty="0"/>
              <a:t>⇒ </a:t>
            </a:r>
            <a:r>
              <a:rPr lang="de-DE" b="1" dirty="0"/>
              <a:t>Fully-</a:t>
            </a:r>
            <a:r>
              <a:rPr lang="de-DE" b="1" dirty="0" err="1"/>
              <a:t>loaded</a:t>
            </a:r>
            <a:r>
              <a:rPr lang="de-DE" b="1" dirty="0"/>
              <a:t> CAC </a:t>
            </a:r>
            <a:r>
              <a:rPr lang="de-DE" dirty="0"/>
              <a:t>inkl. Partner (+20%) ≈ </a:t>
            </a:r>
            <a:r>
              <a:rPr lang="de-DE" b="1" dirty="0"/>
              <a:t>€155,5k pro Kunde</a:t>
            </a:r>
          </a:p>
          <a:p>
            <a:endParaRPr lang="de-DE" dirty="0"/>
          </a:p>
          <a:p>
            <a:r>
              <a:rPr lang="de-DE" b="1" dirty="0"/>
              <a:t>€1 New ARR</a:t>
            </a:r>
            <a:r>
              <a:rPr lang="de-DE" dirty="0"/>
              <a:t> kostet (fully-</a:t>
            </a:r>
            <a:r>
              <a:rPr lang="de-DE" dirty="0" err="1"/>
              <a:t>loaded</a:t>
            </a:r>
            <a:r>
              <a:rPr lang="de-DE" dirty="0"/>
              <a:t>) grob </a:t>
            </a:r>
            <a:r>
              <a:rPr lang="de-DE" b="1" dirty="0"/>
              <a:t>~€1,08 Sales &amp; Marketing</a:t>
            </a:r>
            <a:r>
              <a:rPr lang="de-DE" dirty="0"/>
              <a:t> (bei 18M Payback, 60% GM, inkl. Partner)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A345917E-5936-B40F-8010-AA5B514B0BDE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en-US" dirty="0"/>
              <a:t>Ziel: Gross Margin 60% </a:t>
            </a:r>
            <a:r>
              <a:rPr lang="de-DE" dirty="0"/>
              <a:t>- Hohe AI Nutzung drückt die Marge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893970362"/>
      </p:ext>
    </p:extLst>
  </p:cSld>
  <p:clrMapOvr>
    <a:masterClrMapping/>
  </p:clrMapOvr>
</p:sld>
</file>

<file path=ppt/theme/theme1.xml><?xml version="1.0" encoding="utf-8"?>
<a:theme xmlns:a="http://schemas.openxmlformats.org/drawingml/2006/main" name="Benutzerdefiniert">
  <a:themeElements>
    <a:clrScheme name="Custom 34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EC7016"/>
      </a:accent1>
      <a:accent2>
        <a:srgbClr val="F8931D"/>
      </a:accent2>
      <a:accent3>
        <a:srgbClr val="CE8D3E"/>
      </a:accent3>
      <a:accent4>
        <a:srgbClr val="E64823"/>
      </a:accent4>
      <a:accent5>
        <a:srgbClr val="FFCA08"/>
      </a:accent5>
      <a:accent6>
        <a:srgbClr val="9C6A6A"/>
      </a:accent6>
      <a:hlink>
        <a:srgbClr val="2998E3"/>
      </a:hlink>
      <a:folHlink>
        <a:srgbClr val="7F723D"/>
      </a:folHlink>
    </a:clrScheme>
    <a:fontScheme name="Retrospect">
      <a:majorFont>
        <a:latin typeface="Bookman Old Style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44285926_TF22712842.potx" id="{F5B7AB07-F859-4656-A1C1-DAFCFA0ACA4B}" vid="{A6E2497D-935A-4CFD-B9FD-6DCB15FA68BF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Parcel">
    <a:dk1>
      <a:srgbClr val="000000"/>
    </a:dk1>
    <a:lt1>
      <a:srgbClr val="FFFFFF"/>
    </a:lt1>
    <a:dk2>
      <a:srgbClr val="4A5356"/>
    </a:dk2>
    <a:lt2>
      <a:srgbClr val="E8E3CE"/>
    </a:lt2>
    <a:accent1>
      <a:srgbClr val="F6A21D"/>
    </a:accent1>
    <a:accent2>
      <a:srgbClr val="9BAFB5"/>
    </a:accent2>
    <a:accent3>
      <a:srgbClr val="C96731"/>
    </a:accent3>
    <a:accent4>
      <a:srgbClr val="9CA383"/>
    </a:accent4>
    <a:accent5>
      <a:srgbClr val="87795D"/>
    </a:accent5>
    <a:accent6>
      <a:srgbClr val="A0988C"/>
    </a:accent6>
    <a:hlink>
      <a:srgbClr val="00B0F0"/>
    </a:hlink>
    <a:folHlink>
      <a:srgbClr val="738F97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410dd7f93c95333ffa1b60ed6adedd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936d9baba76aa3866493feff160faab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03EEFF0-FB57-4CB4-8BFC-DF397689E2ED}">
  <ds:schemaRefs>
    <ds:schemaRef ds:uri="71af3243-3dd4-4a8d-8c0d-dd76da1f02a5"/>
    <ds:schemaRef ds:uri="http://schemas.microsoft.com/office/2006/metadata/properties"/>
    <ds:schemaRef ds:uri="http://purl.org/dc/elements/1.1/"/>
    <ds:schemaRef ds:uri="http://purl.org/dc/dcmitype/"/>
    <ds:schemaRef ds:uri="http://schemas.openxmlformats.org/package/2006/metadata/core-properties"/>
    <ds:schemaRef ds:uri="http://schemas.microsoft.com/office/2006/documentManagement/types"/>
    <ds:schemaRef ds:uri="16c05727-aa75-4e4a-9b5f-8a80a1165891"/>
    <ds:schemaRef ds:uri="http://purl.org/dc/terms/"/>
    <ds:schemaRef ds:uri="http://schemas.microsoft.com/office/infopath/2007/PartnerControl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AA3F7EDC-E5B4-4BBC-9D2A-CBE6D46C37A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3932EF5-314F-409E-8020-FEE5FA0795B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99c7da52-56fc-49ca-aa95-8f7fb09c995e}" enabled="0" method="" siteId="{99c7da52-56fc-49ca-aa95-8f7fb09c995e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{C557DC6A-D903-440F-9C14-1B13BD9B79B0}tf22712842_win32</Template>
  <TotalTime>0</TotalTime>
  <Words>1002</Words>
  <Application>Microsoft Office PowerPoint</Application>
  <PresentationFormat>Breitbild</PresentationFormat>
  <Paragraphs>111</Paragraphs>
  <Slides>11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11</vt:i4>
      </vt:variant>
    </vt:vector>
  </HeadingPairs>
  <TitlesOfParts>
    <vt:vector size="17" baseType="lpstr">
      <vt:lpstr>Arial</vt:lpstr>
      <vt:lpstr>Bookman Old Style</vt:lpstr>
      <vt:lpstr>Calibri</vt:lpstr>
      <vt:lpstr>Franklin Gothic Book</vt:lpstr>
      <vt:lpstr>Wingdings</vt:lpstr>
      <vt:lpstr>Benutzerdefiniert</vt:lpstr>
      <vt:lpstr>Real ERP</vt:lpstr>
      <vt:lpstr>Ausgangslage</vt:lpstr>
      <vt:lpstr>PowerPoint-Präsentation</vt:lpstr>
      <vt:lpstr>Unser Ansatz</vt:lpstr>
      <vt:lpstr>Das Produkt</vt:lpstr>
      <vt:lpstr>Unfair Advantage</vt:lpstr>
      <vt:lpstr>Positionierung</vt:lpstr>
      <vt:lpstr>Monetarisierung</vt:lpstr>
      <vt:lpstr>Warum jetzt</vt:lpstr>
      <vt:lpstr>Die 5-Jahres-Ambition</vt:lpstr>
      <vt:lpstr>Unit Economics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Eisner, Andreas</dc:creator>
  <cp:lastModifiedBy>Eisner, Andreas</cp:lastModifiedBy>
  <cp:revision>1</cp:revision>
  <dcterms:created xsi:type="dcterms:W3CDTF">2026-04-14T09:22:51Z</dcterms:created>
  <dcterms:modified xsi:type="dcterms:W3CDTF">2026-04-17T11:05:39Z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